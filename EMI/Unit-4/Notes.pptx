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5" r:id="rId19"/>
    <p:sldId id="274" r:id="rId20"/>
    <p:sldId id="276" r:id="rId21"/>
    <p:sldId id="281" r:id="rId22"/>
    <p:sldId id="277" r:id="rId23"/>
    <p:sldId id="278"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0" d="100"/>
          <a:sy n="60" d="100"/>
        </p:scale>
        <p:origin x="1550"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74BC0-75C1-4EC3-91EA-9D6523272F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5DEB9E-2471-4B40-9A55-D6581333C3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DDAD0E5-0E31-481F-A59C-E3CCC6AF6A7A}"/>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AB2160C8-F3AF-44A2-84EE-A0D9903483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82FFD6-4D91-4B6D-A20B-6CF269CFAB6D}"/>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4273615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18258-3A70-4348-BC98-2DCB665C971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73E8FE-7995-46C9-86B1-42F3F9DAAA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82C4851-9340-47C4-8EA8-913D7813F2E0}"/>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73171590-90CE-48A6-BA3A-351A70C984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241C5CA-516F-42E3-ACA2-02D3B2BC0180}"/>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26871148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CE58-07DE-4FEE-B7FF-8D6AE6E7F46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D225065-BFBA-4DB6-9D48-CEDD33862C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37216D-B5BA-4C68-9277-B26FE57679E7}"/>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15045F8B-23A1-40DB-A99E-FD15B34361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E61D9A-AC4E-45AE-A7F3-9CFE6312C8EC}"/>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24205148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18E81-9221-45D5-AF2B-A0249FFCF2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748258-4B99-4721-87B6-B767FFDC5A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403AA35-D6F5-4BF5-9616-5EC6355F16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E638BE1-3BFB-4301-9A4D-E44B4A9C861E}"/>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6" name="Footer Placeholder 5">
            <a:extLst>
              <a:ext uri="{FF2B5EF4-FFF2-40B4-BE49-F238E27FC236}">
                <a16:creationId xmlns:a16="http://schemas.microsoft.com/office/drawing/2014/main" id="{47DC4ED2-F05C-403F-8B48-22247BC52F6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A542BB4-6D6B-4329-82B8-59E841D207B3}"/>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14702823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8FE3C-1590-477E-8B56-B1B768C341C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2C8767E-DEB1-4EA6-805C-B7B3D2100D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537F2C-2E9D-4FD8-9B70-683EC988E65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06EFAB-CEBF-4771-B327-592D387FEE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DD9ECD-B564-4A4F-BCAE-ABB53CE5FF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B212FAA-4568-4C60-8B28-FB621FA6146A}"/>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8" name="Footer Placeholder 7">
            <a:extLst>
              <a:ext uri="{FF2B5EF4-FFF2-40B4-BE49-F238E27FC236}">
                <a16:creationId xmlns:a16="http://schemas.microsoft.com/office/drawing/2014/main" id="{CE8CBF04-5C46-4DEA-A9B9-12DCACF367E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AD8A030-EF61-4DBA-B065-F48D925E85D0}"/>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3969527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90994-508F-414E-9C3F-53929A367C9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EAC8FDD-E9BA-470D-B279-028561E15B8E}"/>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4" name="Footer Placeholder 3">
            <a:extLst>
              <a:ext uri="{FF2B5EF4-FFF2-40B4-BE49-F238E27FC236}">
                <a16:creationId xmlns:a16="http://schemas.microsoft.com/office/drawing/2014/main" id="{C047BA8E-6BBD-43A5-BF37-8F7FA3D189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B69D4D1-69C3-4996-A038-CECC6AD9A180}"/>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27191349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691C4E-7C74-41B3-803B-C760BFE9C643}"/>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3" name="Footer Placeholder 2">
            <a:extLst>
              <a:ext uri="{FF2B5EF4-FFF2-40B4-BE49-F238E27FC236}">
                <a16:creationId xmlns:a16="http://schemas.microsoft.com/office/drawing/2014/main" id="{59C212EA-72B9-464A-9097-084449FA32C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2C352AD-1487-4065-B348-6E0F55FC00BC}"/>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3835172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4509-81C9-4BA2-A44E-25B3311341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94EEDBCD-2399-473B-B3B7-7DFB46E9AF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7B7B036-B90E-492C-AF0E-6EAE51931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E41D9E-8BD2-4F73-9C79-A36376097C2E}"/>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6" name="Footer Placeholder 5">
            <a:extLst>
              <a:ext uri="{FF2B5EF4-FFF2-40B4-BE49-F238E27FC236}">
                <a16:creationId xmlns:a16="http://schemas.microsoft.com/office/drawing/2014/main" id="{967B48A8-52C5-4975-91C2-86C32F38B9C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7C95B5-B2DA-4F13-8910-BEAD15AD3209}"/>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13019349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E27A2-34D9-4FE2-A9BA-4FE7F43BE6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21DF7D0-060B-428B-9051-9D3D66D4AE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4E1847B-9DF6-4C96-9D53-DCD07454E0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073E3-D3A8-47A0-9C0E-D6F516F4C5A1}"/>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6" name="Footer Placeholder 5">
            <a:extLst>
              <a:ext uri="{FF2B5EF4-FFF2-40B4-BE49-F238E27FC236}">
                <a16:creationId xmlns:a16="http://schemas.microsoft.com/office/drawing/2014/main" id="{E77A5D41-60B9-4DEB-8855-CAA804323D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BBB4F-6830-4EFE-B211-951A118245BB}"/>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11747317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5EC93-B0A2-4A5E-AC72-4587B1B9854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987B8EB-B411-4AB1-84A5-A9BC423A11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766CCB-D396-4564-9F14-8578887B91EA}"/>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34201C47-A8BA-44EB-8D8A-F6B5A3DDBCF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26EBC9-72CC-49EF-9C76-A1467026FDBB}"/>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1092857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1D07C1-EA23-4F40-BD99-11045563E9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04490C-756A-4ACE-808F-9F0991F1305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448482-F932-4F5E-BFAE-FE911FFB4646}"/>
              </a:ext>
            </a:extLst>
          </p:cNvPr>
          <p:cNvSpPr>
            <a:spLocks noGrp="1"/>
          </p:cNvSpPr>
          <p:nvPr>
            <p:ph type="dt" sz="half" idx="10"/>
          </p:nvPr>
        </p:nvSpPr>
        <p:spPr/>
        <p:txBody>
          <a:body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5CA7BB9C-089A-4466-8D5E-2EE29170E2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954A97-9E75-4AC6-B33D-B98857882AFC}"/>
              </a:ext>
            </a:extLst>
          </p:cNvPr>
          <p:cNvSpPr>
            <a:spLocks noGrp="1"/>
          </p:cNvSpPr>
          <p:nvPr>
            <p:ph type="sldNum" sz="quarter" idx="12"/>
          </p:nvPr>
        </p:nvSpPr>
        <p:spPr/>
        <p:txBody>
          <a:bodyPr/>
          <a:lstStyle/>
          <a:p>
            <a:fld id="{748FB3FE-8971-483B-98E4-58FEB6348CD6}" type="slidenum">
              <a:rPr lang="en-IN" smtClean="0"/>
              <a:t>‹#›</a:t>
            </a:fld>
            <a:endParaRPr lang="en-IN"/>
          </a:p>
        </p:txBody>
      </p:sp>
    </p:spTree>
    <p:extLst>
      <p:ext uri="{BB962C8B-B14F-4D97-AF65-F5344CB8AC3E}">
        <p14:creationId xmlns:p14="http://schemas.microsoft.com/office/powerpoint/2010/main" val="3722681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751FFC-812A-4A3D-B5FB-B393BEC126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C00D57-DA06-4DDF-9225-03C4234B04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786EDC-C643-431B-A8D9-0BA3AD5830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211B45-593B-4125-A062-C0E3B0540E79}" type="datetimeFigureOut">
              <a:rPr lang="en-IN" smtClean="0"/>
              <a:t>13-10-2020</a:t>
            </a:fld>
            <a:endParaRPr lang="en-IN"/>
          </a:p>
        </p:txBody>
      </p:sp>
      <p:sp>
        <p:nvSpPr>
          <p:cNvPr id="5" name="Footer Placeholder 4">
            <a:extLst>
              <a:ext uri="{FF2B5EF4-FFF2-40B4-BE49-F238E27FC236}">
                <a16:creationId xmlns:a16="http://schemas.microsoft.com/office/drawing/2014/main" id="{61A2ACDE-3895-479D-95F3-D16145251A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6CEF0A8-C7E6-4416-A648-7CCD786ADA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8FB3FE-8971-483B-98E4-58FEB6348CD6}" type="slidenum">
              <a:rPr lang="en-IN" smtClean="0"/>
              <a:t>‹#›</a:t>
            </a:fld>
            <a:endParaRPr lang="en-IN"/>
          </a:p>
        </p:txBody>
      </p:sp>
    </p:spTree>
    <p:extLst>
      <p:ext uri="{BB962C8B-B14F-4D97-AF65-F5344CB8AC3E}">
        <p14:creationId xmlns:p14="http://schemas.microsoft.com/office/powerpoint/2010/main" val="37929451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elprocus.com/what-is-a-wire-wound-resistor-types-and-applications/" TargetMode="External"/><Relationship Id="rId2" Type="http://schemas.openxmlformats.org/officeDocument/2006/relationships/hyperlink" Target="https://www.elprocus.com/wheatstone-bridge-working-and-its-applications/"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elprocus.com/wheatstone-bridge-working-and-its-applications/"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3FF65-F31F-4276-91FE-392E993B0F36}"/>
              </a:ext>
            </a:extLst>
          </p:cNvPr>
          <p:cNvSpPr>
            <a:spLocks noGrp="1"/>
          </p:cNvSpPr>
          <p:nvPr>
            <p:ph type="ctrTitle"/>
          </p:nvPr>
        </p:nvSpPr>
        <p:spPr/>
        <p:txBody>
          <a:bodyPr/>
          <a:lstStyle/>
          <a:p>
            <a:r>
              <a:rPr lang="en-US" dirty="0">
                <a:highlight>
                  <a:srgbClr val="FFFF00"/>
                </a:highlight>
              </a:rPr>
              <a:t>UNIT-4</a:t>
            </a:r>
            <a:endParaRPr lang="en-IN" dirty="0">
              <a:highlight>
                <a:srgbClr val="FFFF00"/>
              </a:highlight>
            </a:endParaRPr>
          </a:p>
        </p:txBody>
      </p:sp>
      <p:sp>
        <p:nvSpPr>
          <p:cNvPr id="3" name="Subtitle 2">
            <a:extLst>
              <a:ext uri="{FF2B5EF4-FFF2-40B4-BE49-F238E27FC236}">
                <a16:creationId xmlns:a16="http://schemas.microsoft.com/office/drawing/2014/main" id="{54368B78-2B50-4A45-BBF7-5694CB1ABF47}"/>
              </a:ext>
            </a:extLst>
          </p:cNvPr>
          <p:cNvSpPr>
            <a:spLocks noGrp="1"/>
          </p:cNvSpPr>
          <p:nvPr>
            <p:ph type="subTitle" idx="1"/>
          </p:nvPr>
        </p:nvSpPr>
        <p:spPr/>
        <p:txBody>
          <a:bodyPr>
            <a:normAutofit/>
          </a:bodyPr>
          <a:lstStyle/>
          <a:p>
            <a:r>
              <a:rPr lang="en-US" sz="5400" dirty="0">
                <a:highlight>
                  <a:srgbClr val="00FFFF"/>
                </a:highlight>
              </a:rPr>
              <a:t>BRIDGES</a:t>
            </a:r>
            <a:endParaRPr lang="en-IN" sz="5400" dirty="0">
              <a:highlight>
                <a:srgbClr val="00FFFF"/>
              </a:highlight>
            </a:endParaRPr>
          </a:p>
        </p:txBody>
      </p:sp>
    </p:spTree>
    <p:extLst>
      <p:ext uri="{BB962C8B-B14F-4D97-AF65-F5344CB8AC3E}">
        <p14:creationId xmlns:p14="http://schemas.microsoft.com/office/powerpoint/2010/main" val="4231935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ADDF19-1067-44FD-95F8-34745DDF069E}"/>
              </a:ext>
            </a:extLst>
          </p:cNvPr>
          <p:cNvSpPr>
            <a:spLocks noGrp="1"/>
          </p:cNvSpPr>
          <p:nvPr>
            <p:ph idx="1"/>
          </p:nvPr>
        </p:nvSpPr>
        <p:spPr>
          <a:xfrm>
            <a:off x="838200" y="914400"/>
            <a:ext cx="10515600" cy="5262563"/>
          </a:xfrm>
        </p:spPr>
        <p:txBody>
          <a:bodyPr>
            <a:normAutofit/>
          </a:bodyPr>
          <a:lstStyle/>
          <a:p>
            <a:r>
              <a:rPr lang="en-US" sz="2000" dirty="0"/>
              <a:t>If the electrical components are arranged in the form a bridge or ring structure, then that electrical circuit is called a </a:t>
            </a:r>
            <a:r>
              <a:rPr lang="en-US" sz="2000" b="1" dirty="0"/>
              <a:t>bridge</a:t>
            </a:r>
            <a:r>
              <a:rPr lang="en-US" sz="2000" dirty="0"/>
              <a:t>. In general, bridge forms a loop with a set of four arms or branches. Each branch may contain one or two electrical components.</a:t>
            </a:r>
          </a:p>
          <a:p>
            <a:endParaRPr lang="en-US" sz="2000" dirty="0"/>
          </a:p>
          <a:p>
            <a:r>
              <a:rPr lang="en-US" sz="2000" dirty="0"/>
              <a:t>We can classify the bridge circuits or bridges into the following two categories based on the voltage signal with which those can be operated.</a:t>
            </a:r>
          </a:p>
          <a:p>
            <a:r>
              <a:rPr lang="en-US" sz="2000" dirty="0"/>
              <a:t>                                                                  (I)   DC Bridges</a:t>
            </a:r>
          </a:p>
          <a:p>
            <a:r>
              <a:rPr lang="en-US" sz="2000" dirty="0"/>
              <a:t>                                                                  (II)  AC Bridges</a:t>
            </a:r>
          </a:p>
          <a:p>
            <a:r>
              <a:rPr lang="en-US" sz="2400" b="1" u="sng" dirty="0"/>
              <a:t>DC Bridges:-</a:t>
            </a:r>
            <a:endParaRPr lang="en-US" sz="2400" dirty="0"/>
          </a:p>
          <a:p>
            <a:endParaRPr lang="en-US" sz="2400" b="1" u="sng" dirty="0"/>
          </a:p>
          <a:p>
            <a:r>
              <a:rPr lang="en-US" sz="2000" dirty="0"/>
              <a:t>If the bridge circuit can be operated with only DC voltage signal, then it is a DC bridge circuit or simply </a:t>
            </a:r>
            <a:r>
              <a:rPr lang="en-US" sz="2000" b="1" dirty="0"/>
              <a:t>DC bridge</a:t>
            </a:r>
            <a:r>
              <a:rPr lang="en-US" sz="2000" dirty="0"/>
              <a:t>. DC bridges are used to measure the value of unknown resistance. The </a:t>
            </a:r>
            <a:r>
              <a:rPr lang="en-US" sz="2000" b="1" dirty="0"/>
              <a:t>circuit diagram</a:t>
            </a:r>
            <a:r>
              <a:rPr lang="en-US" sz="2000" dirty="0"/>
              <a:t> of DC bridge looks like as shown in below figure.</a:t>
            </a:r>
          </a:p>
          <a:p>
            <a:endParaRPr lang="en-US" sz="2000" dirty="0"/>
          </a:p>
          <a:p>
            <a:endParaRPr lang="en-IN" sz="2000" dirty="0"/>
          </a:p>
        </p:txBody>
      </p:sp>
      <p:sp>
        <p:nvSpPr>
          <p:cNvPr id="6" name="Title 1">
            <a:extLst>
              <a:ext uri="{FF2B5EF4-FFF2-40B4-BE49-F238E27FC236}">
                <a16:creationId xmlns:a16="http://schemas.microsoft.com/office/drawing/2014/main" id="{01DB23D2-A6E9-45DF-8B7B-B8B7295ECA8A}"/>
              </a:ext>
            </a:extLst>
          </p:cNvPr>
          <p:cNvSpPr>
            <a:spLocks noGrp="1"/>
          </p:cNvSpPr>
          <p:nvPr>
            <p:ph type="title"/>
          </p:nvPr>
        </p:nvSpPr>
        <p:spPr>
          <a:xfrm>
            <a:off x="838200" y="429208"/>
            <a:ext cx="10515600" cy="382555"/>
          </a:xfrm>
        </p:spPr>
        <p:txBody>
          <a:bodyPr>
            <a:normAutofit fontScale="90000"/>
          </a:bodyPr>
          <a:lstStyle/>
          <a:p>
            <a:r>
              <a:rPr lang="en-IN" sz="2800" b="1" u="sng" dirty="0">
                <a:effectLst>
                  <a:outerShdw blurRad="38100" dist="38100" dir="2700000" algn="tl">
                    <a:srgbClr val="000000">
                      <a:alpha val="43137"/>
                    </a:srgbClr>
                  </a:outerShdw>
                </a:effectLst>
                <a:highlight>
                  <a:srgbClr val="FF0000"/>
                </a:highlight>
              </a:rPr>
              <a:t>Types of Bridges</a:t>
            </a:r>
            <a:r>
              <a:rPr lang="en-IN" sz="2800" dirty="0"/>
              <a:t>:-</a:t>
            </a:r>
            <a:br>
              <a:rPr lang="en-IN" sz="2800" dirty="0"/>
            </a:br>
            <a:endParaRPr lang="en-IN" sz="2800" dirty="0"/>
          </a:p>
        </p:txBody>
      </p:sp>
    </p:spTree>
    <p:extLst>
      <p:ext uri="{BB962C8B-B14F-4D97-AF65-F5344CB8AC3E}">
        <p14:creationId xmlns:p14="http://schemas.microsoft.com/office/powerpoint/2010/main" val="27834202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D8BD517-D1DC-4E47-937F-FD635C373E43}"/>
              </a:ext>
            </a:extLst>
          </p:cNvPr>
          <p:cNvPicPr>
            <a:picLocks noChangeAspect="1"/>
          </p:cNvPicPr>
          <p:nvPr/>
        </p:nvPicPr>
        <p:blipFill>
          <a:blip r:embed="rId2"/>
          <a:stretch>
            <a:fillRect/>
          </a:stretch>
        </p:blipFill>
        <p:spPr>
          <a:xfrm>
            <a:off x="3714750" y="1"/>
            <a:ext cx="4762500" cy="3293705"/>
          </a:xfrm>
          <a:prstGeom prst="rect">
            <a:avLst/>
          </a:prstGeom>
        </p:spPr>
      </p:pic>
      <p:sp>
        <p:nvSpPr>
          <p:cNvPr id="3" name="Rectangle 2">
            <a:extLst>
              <a:ext uri="{FF2B5EF4-FFF2-40B4-BE49-F238E27FC236}">
                <a16:creationId xmlns:a16="http://schemas.microsoft.com/office/drawing/2014/main" id="{EB223729-65D0-4496-8920-11AEDE24C73B}"/>
              </a:ext>
            </a:extLst>
          </p:cNvPr>
          <p:cNvSpPr/>
          <p:nvPr/>
        </p:nvSpPr>
        <p:spPr>
          <a:xfrm>
            <a:off x="373224" y="3060441"/>
            <a:ext cx="11551298" cy="2862322"/>
          </a:xfrm>
          <a:prstGeom prst="rect">
            <a:avLst/>
          </a:prstGeom>
        </p:spPr>
        <p:txBody>
          <a:bodyPr wrap="square">
            <a:spAutoFit/>
          </a:bodyPr>
          <a:lstStyle/>
          <a:p>
            <a:pPr algn="just"/>
            <a:r>
              <a:rPr lang="en-US" b="0" i="0" dirty="0">
                <a:solidFill>
                  <a:srgbClr val="000000"/>
                </a:solidFill>
                <a:effectLst/>
                <a:latin typeface="Arial" panose="020B0604020202020204" pitchFamily="34" charset="0"/>
              </a:rPr>
              <a:t>The above DC bridge has </a:t>
            </a:r>
            <a:r>
              <a:rPr lang="en-US" b="1" i="0" dirty="0">
                <a:solidFill>
                  <a:srgbClr val="000000"/>
                </a:solidFill>
                <a:effectLst/>
                <a:latin typeface="Arial" panose="020B0604020202020204" pitchFamily="34" charset="0"/>
              </a:rPr>
              <a:t>four arms</a:t>
            </a:r>
            <a:r>
              <a:rPr lang="en-US" b="0" i="0" dirty="0">
                <a:solidFill>
                  <a:srgbClr val="000000"/>
                </a:solidFill>
                <a:effectLst/>
                <a:latin typeface="Arial" panose="020B0604020202020204" pitchFamily="34" charset="0"/>
              </a:rPr>
              <a:t> and each arm consists of a resistor. Among which, two resistors have fixed resistance values, one resistor is a variable resistor and the other one has an unknown resistance value.</a:t>
            </a:r>
          </a:p>
          <a:p>
            <a:pPr algn="just"/>
            <a:endParaRPr lang="en-US" b="0" i="0" dirty="0">
              <a:solidFill>
                <a:srgbClr val="000000"/>
              </a:solidFill>
              <a:effectLst/>
              <a:latin typeface="Arial" panose="020B0604020202020204" pitchFamily="34" charset="0"/>
            </a:endParaRPr>
          </a:p>
          <a:p>
            <a:pPr algn="just"/>
            <a:r>
              <a:rPr lang="en-US" b="0" i="0" dirty="0">
                <a:solidFill>
                  <a:srgbClr val="000000"/>
                </a:solidFill>
                <a:effectLst/>
                <a:latin typeface="Arial" panose="020B0604020202020204" pitchFamily="34" charset="0"/>
              </a:rPr>
              <a:t>The above DC bridge circuit can be excited with a </a:t>
            </a:r>
            <a:r>
              <a:rPr lang="en-US" b="1" i="0" dirty="0">
                <a:solidFill>
                  <a:srgbClr val="000000"/>
                </a:solidFill>
                <a:effectLst/>
                <a:latin typeface="Arial" panose="020B0604020202020204" pitchFamily="34" charset="0"/>
              </a:rPr>
              <a:t>DC voltage source</a:t>
            </a:r>
            <a:r>
              <a:rPr lang="en-US" b="0" i="0" dirty="0">
                <a:solidFill>
                  <a:srgbClr val="000000"/>
                </a:solidFill>
                <a:effectLst/>
                <a:latin typeface="Arial" panose="020B0604020202020204" pitchFamily="34" charset="0"/>
              </a:rPr>
              <a:t> by placing it in one diagonal. The galvanometer is placed in other diagonal of DC bridge. It shows some deflection as long as the bridge is unbalanced.</a:t>
            </a:r>
          </a:p>
          <a:p>
            <a:pPr algn="just"/>
            <a:endParaRPr lang="en-US" b="0" i="0" dirty="0">
              <a:solidFill>
                <a:srgbClr val="000000"/>
              </a:solidFill>
              <a:effectLst/>
              <a:latin typeface="Arial" panose="020B0604020202020204" pitchFamily="34" charset="0"/>
            </a:endParaRPr>
          </a:p>
          <a:p>
            <a:pPr algn="just"/>
            <a:r>
              <a:rPr lang="en-US" b="0" i="0" dirty="0">
                <a:solidFill>
                  <a:srgbClr val="000000"/>
                </a:solidFill>
                <a:effectLst/>
                <a:latin typeface="Arial" panose="020B0604020202020204" pitchFamily="34" charset="0"/>
              </a:rPr>
              <a:t>Vary the resistance value of variable resistor until the galvanometer shows null (zero) deflection. Now, the above DC bridge is said to be a balanced one. So, we can find the value of </a:t>
            </a:r>
            <a:r>
              <a:rPr lang="en-US" b="1" i="0" dirty="0">
                <a:solidFill>
                  <a:srgbClr val="000000"/>
                </a:solidFill>
                <a:effectLst/>
                <a:latin typeface="Arial" panose="020B0604020202020204" pitchFamily="34" charset="0"/>
              </a:rPr>
              <a:t>unknown resistance</a:t>
            </a:r>
            <a:r>
              <a:rPr lang="en-US" b="0" i="0" dirty="0">
                <a:solidFill>
                  <a:srgbClr val="000000"/>
                </a:solidFill>
                <a:effectLst/>
                <a:latin typeface="Arial" panose="020B0604020202020204" pitchFamily="34" charset="0"/>
              </a:rPr>
              <a:t> by using nodal equations.</a:t>
            </a:r>
          </a:p>
        </p:txBody>
      </p:sp>
    </p:spTree>
    <p:extLst>
      <p:ext uri="{BB962C8B-B14F-4D97-AF65-F5344CB8AC3E}">
        <p14:creationId xmlns:p14="http://schemas.microsoft.com/office/powerpoint/2010/main" val="1308907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0A36AD-8427-487A-B9AF-0DD9F72B42CE}"/>
              </a:ext>
            </a:extLst>
          </p:cNvPr>
          <p:cNvSpPr/>
          <p:nvPr/>
        </p:nvSpPr>
        <p:spPr>
          <a:xfrm>
            <a:off x="317241" y="130629"/>
            <a:ext cx="11709918" cy="1846659"/>
          </a:xfrm>
          <a:prstGeom prst="rect">
            <a:avLst/>
          </a:prstGeom>
        </p:spPr>
        <p:txBody>
          <a:bodyPr wrap="square">
            <a:spAutoFit/>
          </a:bodyPr>
          <a:lstStyle/>
          <a:p>
            <a:r>
              <a:rPr lang="en-US" sz="2400" b="1" i="0" u="sng" dirty="0">
                <a:effectLst/>
                <a:latin typeface="Arial" panose="020B0604020202020204" pitchFamily="34" charset="0"/>
              </a:rPr>
              <a:t>AC Bridges:-</a:t>
            </a:r>
            <a:endParaRPr lang="en-US" sz="2400" i="0" dirty="0">
              <a:effectLst/>
              <a:latin typeface="Arial" panose="020B0604020202020204" pitchFamily="34" charset="0"/>
            </a:endParaRPr>
          </a:p>
          <a:p>
            <a:pPr algn="just"/>
            <a:r>
              <a:rPr lang="en-US" b="0" i="0" dirty="0">
                <a:solidFill>
                  <a:srgbClr val="000000"/>
                </a:solidFill>
                <a:effectLst/>
                <a:latin typeface="Arial" panose="020B0604020202020204" pitchFamily="34" charset="0"/>
              </a:rPr>
              <a:t>If the bridge circuit can be operated with only AC voltage signal, then it is said to be AC bridge circuit or simply </a:t>
            </a:r>
            <a:r>
              <a:rPr lang="en-US" b="1" i="0" dirty="0">
                <a:solidFill>
                  <a:srgbClr val="000000"/>
                </a:solidFill>
                <a:effectLst/>
                <a:latin typeface="Arial" panose="020B0604020202020204" pitchFamily="34" charset="0"/>
              </a:rPr>
              <a:t>AC bridge</a:t>
            </a:r>
            <a:r>
              <a:rPr lang="en-US" b="0" i="0" dirty="0">
                <a:solidFill>
                  <a:srgbClr val="000000"/>
                </a:solidFill>
                <a:effectLst/>
                <a:latin typeface="Arial" panose="020B0604020202020204" pitchFamily="34" charset="0"/>
              </a:rPr>
              <a:t>. </a:t>
            </a:r>
          </a:p>
          <a:p>
            <a:pPr algn="just"/>
            <a:endParaRPr lang="en-US" dirty="0">
              <a:solidFill>
                <a:srgbClr val="000000"/>
              </a:solidFill>
              <a:latin typeface="Arial" panose="020B0604020202020204" pitchFamily="34" charset="0"/>
            </a:endParaRPr>
          </a:p>
          <a:p>
            <a:pPr algn="just"/>
            <a:r>
              <a:rPr lang="en-US" b="0" i="0" dirty="0">
                <a:solidFill>
                  <a:srgbClr val="000000"/>
                </a:solidFill>
                <a:effectLst/>
                <a:latin typeface="Arial" panose="020B0604020202020204" pitchFamily="34" charset="0"/>
              </a:rPr>
              <a:t>AC bridges are used to measure the value of unknown inductance, capacitance and frequency.</a:t>
            </a:r>
          </a:p>
          <a:p>
            <a:pPr algn="just"/>
            <a:r>
              <a:rPr lang="en-US" b="0" i="0" dirty="0">
                <a:solidFill>
                  <a:srgbClr val="000000"/>
                </a:solidFill>
                <a:effectLst/>
                <a:latin typeface="Arial" panose="020B0604020202020204" pitchFamily="34" charset="0"/>
              </a:rPr>
              <a:t>The </a:t>
            </a:r>
            <a:r>
              <a:rPr lang="en-US" b="1" i="0" dirty="0">
                <a:solidFill>
                  <a:srgbClr val="000000"/>
                </a:solidFill>
                <a:effectLst/>
                <a:latin typeface="Arial" panose="020B0604020202020204" pitchFamily="34" charset="0"/>
              </a:rPr>
              <a:t>circuit diagram</a:t>
            </a:r>
            <a:r>
              <a:rPr lang="en-US" b="0" i="0" dirty="0">
                <a:solidFill>
                  <a:srgbClr val="000000"/>
                </a:solidFill>
                <a:effectLst/>
                <a:latin typeface="Arial" panose="020B0604020202020204" pitchFamily="34" charset="0"/>
              </a:rPr>
              <a:t> of AC bridge looks like as shown in below figure.</a:t>
            </a:r>
          </a:p>
        </p:txBody>
      </p:sp>
      <p:pic>
        <p:nvPicPr>
          <p:cNvPr id="3" name="Picture 2">
            <a:extLst>
              <a:ext uri="{FF2B5EF4-FFF2-40B4-BE49-F238E27FC236}">
                <a16:creationId xmlns:a16="http://schemas.microsoft.com/office/drawing/2014/main" id="{095DA4BE-0016-47C5-B53B-2A7942FA081D}"/>
              </a:ext>
            </a:extLst>
          </p:cNvPr>
          <p:cNvPicPr>
            <a:picLocks noChangeAspect="1"/>
          </p:cNvPicPr>
          <p:nvPr/>
        </p:nvPicPr>
        <p:blipFill>
          <a:blip r:embed="rId2"/>
          <a:stretch>
            <a:fillRect/>
          </a:stretch>
        </p:blipFill>
        <p:spPr>
          <a:xfrm>
            <a:off x="3714750" y="1884784"/>
            <a:ext cx="4762500" cy="3387303"/>
          </a:xfrm>
          <a:prstGeom prst="rect">
            <a:avLst/>
          </a:prstGeom>
        </p:spPr>
      </p:pic>
      <p:sp>
        <p:nvSpPr>
          <p:cNvPr id="4" name="Rectangle 3">
            <a:extLst>
              <a:ext uri="{FF2B5EF4-FFF2-40B4-BE49-F238E27FC236}">
                <a16:creationId xmlns:a16="http://schemas.microsoft.com/office/drawing/2014/main" id="{ABB1F3AC-65AD-463F-8484-433395CFCA89}"/>
              </a:ext>
            </a:extLst>
          </p:cNvPr>
          <p:cNvSpPr/>
          <p:nvPr/>
        </p:nvSpPr>
        <p:spPr>
          <a:xfrm>
            <a:off x="531845" y="5449078"/>
            <a:ext cx="11094098" cy="923330"/>
          </a:xfrm>
          <a:prstGeom prst="rect">
            <a:avLst/>
          </a:prstGeom>
        </p:spPr>
        <p:txBody>
          <a:bodyPr wrap="square">
            <a:spAutoFit/>
          </a:bodyPr>
          <a:lstStyle/>
          <a:p>
            <a:r>
              <a:rPr lang="en-US" b="0" i="0" dirty="0">
                <a:solidFill>
                  <a:srgbClr val="000000"/>
                </a:solidFill>
                <a:effectLst/>
                <a:latin typeface="Arial" panose="020B0604020202020204" pitchFamily="34" charset="0"/>
              </a:rPr>
              <a:t>The circuit diagram of AC bridge is similar to that of DC bridge. The above AC bridge has </a:t>
            </a:r>
            <a:r>
              <a:rPr lang="en-US" b="1" i="0" dirty="0">
                <a:solidFill>
                  <a:srgbClr val="000000"/>
                </a:solidFill>
                <a:effectLst/>
                <a:latin typeface="Arial" panose="020B0604020202020204" pitchFamily="34" charset="0"/>
              </a:rPr>
              <a:t>four arms</a:t>
            </a:r>
            <a:r>
              <a:rPr lang="en-US" b="0" i="0" dirty="0">
                <a:solidFill>
                  <a:srgbClr val="000000"/>
                </a:solidFill>
                <a:effectLst/>
                <a:latin typeface="Arial" panose="020B0604020202020204" pitchFamily="34" charset="0"/>
              </a:rPr>
              <a:t> and each arm consists of some impedance. That means, each arm will be having either single or combination of passive elements such as resistor, inductor and capacitor.</a:t>
            </a:r>
            <a:endParaRPr lang="en-IN" dirty="0"/>
          </a:p>
        </p:txBody>
      </p:sp>
    </p:spTree>
    <p:extLst>
      <p:ext uri="{BB962C8B-B14F-4D97-AF65-F5344CB8AC3E}">
        <p14:creationId xmlns:p14="http://schemas.microsoft.com/office/powerpoint/2010/main" val="383254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B5149CF-1906-47B6-9576-465418D384C4}"/>
              </a:ext>
            </a:extLst>
          </p:cNvPr>
          <p:cNvSpPr/>
          <p:nvPr/>
        </p:nvSpPr>
        <p:spPr>
          <a:xfrm>
            <a:off x="307910" y="298581"/>
            <a:ext cx="11728580" cy="4524315"/>
          </a:xfrm>
          <a:prstGeom prst="rect">
            <a:avLst/>
          </a:prstGeom>
        </p:spPr>
        <p:txBody>
          <a:bodyPr wrap="square">
            <a:spAutoFit/>
          </a:bodyPr>
          <a:lstStyle/>
          <a:p>
            <a:pPr algn="just"/>
            <a:r>
              <a:rPr lang="en-US" b="0" i="0" dirty="0">
                <a:solidFill>
                  <a:srgbClr val="000000"/>
                </a:solidFill>
                <a:effectLst/>
                <a:latin typeface="Arial" panose="020B0604020202020204" pitchFamily="34" charset="0"/>
              </a:rPr>
              <a:t>Among the four impedances, two impedances have fixed values, one impedance is variable and the other one is an unknown impedance.</a:t>
            </a: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r>
              <a:rPr lang="en-US" b="0" i="0" dirty="0">
                <a:solidFill>
                  <a:srgbClr val="000000"/>
                </a:solidFill>
                <a:effectLst/>
                <a:latin typeface="Arial" panose="020B0604020202020204" pitchFamily="34" charset="0"/>
              </a:rPr>
              <a:t>The above AC bridge circuit can be excited with an </a:t>
            </a:r>
            <a:r>
              <a:rPr lang="en-US" b="1" i="0" dirty="0">
                <a:solidFill>
                  <a:srgbClr val="000000"/>
                </a:solidFill>
                <a:effectLst/>
                <a:latin typeface="Arial" panose="020B0604020202020204" pitchFamily="34" charset="0"/>
              </a:rPr>
              <a:t>AC voltage source</a:t>
            </a:r>
            <a:r>
              <a:rPr lang="en-US" b="0" i="0" dirty="0">
                <a:solidFill>
                  <a:srgbClr val="000000"/>
                </a:solidFill>
                <a:effectLst/>
                <a:latin typeface="Arial" panose="020B0604020202020204" pitchFamily="34" charset="0"/>
              </a:rPr>
              <a:t> by placing it in one diagonal. A detector is placed in other diagonal of AC bridge. It shows some deflection as long as the bridge is unbalanced.</a:t>
            </a: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r>
              <a:rPr lang="en-US" b="0" i="0" dirty="0">
                <a:solidFill>
                  <a:srgbClr val="000000"/>
                </a:solidFill>
                <a:effectLst/>
                <a:latin typeface="Arial" panose="020B0604020202020204" pitchFamily="34" charset="0"/>
              </a:rPr>
              <a:t>The above AC bridge circuit can be excited with an </a:t>
            </a:r>
            <a:r>
              <a:rPr lang="en-US" b="1" i="0" dirty="0">
                <a:solidFill>
                  <a:srgbClr val="000000"/>
                </a:solidFill>
                <a:effectLst/>
                <a:latin typeface="Arial" panose="020B0604020202020204" pitchFamily="34" charset="0"/>
              </a:rPr>
              <a:t>AC voltage source</a:t>
            </a:r>
            <a:r>
              <a:rPr lang="en-US" b="0" i="0" dirty="0">
                <a:solidFill>
                  <a:srgbClr val="000000"/>
                </a:solidFill>
                <a:effectLst/>
                <a:latin typeface="Arial" panose="020B0604020202020204" pitchFamily="34" charset="0"/>
              </a:rPr>
              <a:t> by placing it in one diagonal. A detector is placed in other diagonal of AC bridge. It shows some deflection as long as the bridge is unbalanced.</a:t>
            </a:r>
          </a:p>
          <a:p>
            <a:pPr algn="just"/>
            <a:endParaRPr lang="en-US" dirty="0">
              <a:solidFill>
                <a:srgbClr val="000000"/>
              </a:solidFill>
              <a:latin typeface="Arial" panose="020B0604020202020204" pitchFamily="34" charset="0"/>
            </a:endParaRPr>
          </a:p>
          <a:p>
            <a:pPr algn="just"/>
            <a:endParaRPr lang="en-US" b="0" i="0" dirty="0">
              <a:solidFill>
                <a:srgbClr val="000000"/>
              </a:solidFill>
              <a:effectLst/>
              <a:latin typeface="Arial" panose="020B0604020202020204" pitchFamily="34" charset="0"/>
            </a:endParaRPr>
          </a:p>
          <a:p>
            <a:pPr algn="just"/>
            <a:r>
              <a:rPr lang="en-US" b="0" i="0" dirty="0">
                <a:solidFill>
                  <a:srgbClr val="000000"/>
                </a:solidFill>
                <a:effectLst/>
                <a:latin typeface="Arial" panose="020B0604020202020204" pitchFamily="34" charset="0"/>
              </a:rPr>
              <a:t>Vary the impedance value of variable impedance until the detector shows null (zero) deflection. Now, the above AC bridge is said to be a balanced one. So, we can find the value of </a:t>
            </a:r>
            <a:r>
              <a:rPr lang="en-US" b="1" i="0" dirty="0">
                <a:solidFill>
                  <a:srgbClr val="000000"/>
                </a:solidFill>
                <a:effectLst/>
                <a:latin typeface="Arial" panose="020B0604020202020204" pitchFamily="34" charset="0"/>
              </a:rPr>
              <a:t>unknown impedance</a:t>
            </a:r>
            <a:r>
              <a:rPr lang="en-US" b="0" i="0" dirty="0">
                <a:solidFill>
                  <a:srgbClr val="000000"/>
                </a:solidFill>
                <a:effectLst/>
                <a:latin typeface="Arial" panose="020B0604020202020204" pitchFamily="34" charset="0"/>
              </a:rPr>
              <a:t> by using balanced condition.</a:t>
            </a:r>
          </a:p>
          <a:p>
            <a:pPr algn="just"/>
            <a:endParaRPr lang="en-US" b="0" i="0" dirty="0">
              <a:solidFill>
                <a:srgbClr val="000000"/>
              </a:solidFill>
              <a:effectLst/>
              <a:latin typeface="Arial" panose="020B0604020202020204" pitchFamily="34" charset="0"/>
            </a:endParaRPr>
          </a:p>
        </p:txBody>
      </p:sp>
      <p:sp>
        <p:nvSpPr>
          <p:cNvPr id="3" name="Rectangle 2">
            <a:extLst>
              <a:ext uri="{FF2B5EF4-FFF2-40B4-BE49-F238E27FC236}">
                <a16:creationId xmlns:a16="http://schemas.microsoft.com/office/drawing/2014/main" id="{4B23C1F6-CE5A-429B-8A62-DA25DF192517}"/>
              </a:ext>
            </a:extLst>
          </p:cNvPr>
          <p:cNvSpPr/>
          <p:nvPr/>
        </p:nvSpPr>
        <p:spPr>
          <a:xfrm>
            <a:off x="419878" y="4973216"/>
            <a:ext cx="11616612" cy="646331"/>
          </a:xfrm>
          <a:prstGeom prst="rect">
            <a:avLst/>
          </a:prstGeom>
        </p:spPr>
        <p:txBody>
          <a:bodyPr wrap="square">
            <a:spAutoFit/>
          </a:bodyPr>
          <a:lstStyle/>
          <a:p>
            <a:r>
              <a:rPr lang="en-US" b="1" i="0" dirty="0">
                <a:solidFill>
                  <a:srgbClr val="000000"/>
                </a:solidFill>
                <a:effectLst/>
                <a:latin typeface="Arial" panose="020B0604020202020204" pitchFamily="34" charset="0"/>
              </a:rPr>
              <a:t>DC bridges</a:t>
            </a:r>
            <a:r>
              <a:rPr lang="en-US" b="0" i="0" dirty="0">
                <a:solidFill>
                  <a:srgbClr val="000000"/>
                </a:solidFill>
                <a:effectLst/>
                <a:latin typeface="Arial" panose="020B0604020202020204" pitchFamily="34" charset="0"/>
              </a:rPr>
              <a:t> can be operated with only DC voltage signal. DC bridges are useful for measuring the value of unknown resistance, which is present in the bridge. Wheatstone’s Bridge is an example of DC bridge.</a:t>
            </a:r>
            <a:endParaRPr lang="en-IN" dirty="0"/>
          </a:p>
        </p:txBody>
      </p:sp>
    </p:spTree>
    <p:extLst>
      <p:ext uri="{BB962C8B-B14F-4D97-AF65-F5344CB8AC3E}">
        <p14:creationId xmlns:p14="http://schemas.microsoft.com/office/powerpoint/2010/main" val="436643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50EF381-9E21-438C-B58E-FE7A8E09ABF7}"/>
              </a:ext>
            </a:extLst>
          </p:cNvPr>
          <p:cNvSpPr/>
          <p:nvPr/>
        </p:nvSpPr>
        <p:spPr>
          <a:xfrm>
            <a:off x="102637" y="149291"/>
            <a:ext cx="11924522" cy="2062103"/>
          </a:xfrm>
          <a:prstGeom prst="rect">
            <a:avLst/>
          </a:prstGeom>
        </p:spPr>
        <p:txBody>
          <a:bodyPr wrap="square">
            <a:spAutoFit/>
          </a:bodyPr>
          <a:lstStyle/>
          <a:p>
            <a:pPr algn="just" fontAlgn="base"/>
            <a:r>
              <a:rPr lang="en-US" sz="2000" b="1" u="sng" dirty="0" err="1">
                <a:solidFill>
                  <a:srgbClr val="000000"/>
                </a:solidFill>
                <a:effectLst>
                  <a:outerShdw blurRad="38100" dist="38100" dir="2700000" algn="tl">
                    <a:srgbClr val="000000">
                      <a:alpha val="43137"/>
                    </a:srgbClr>
                  </a:outerShdw>
                </a:effectLst>
                <a:highlight>
                  <a:srgbClr val="FF0000"/>
                </a:highlight>
                <a:latin typeface="Arial" panose="020B0604020202020204" pitchFamily="34" charset="0"/>
              </a:rPr>
              <a:t>Maxwells</a:t>
            </a:r>
            <a:r>
              <a:rPr lang="en-US" sz="2000" b="1" u="sng" dirty="0">
                <a:solidFill>
                  <a:srgbClr val="000000"/>
                </a:solidFill>
                <a:effectLst>
                  <a:outerShdw blurRad="38100" dist="38100" dir="2700000" algn="tl">
                    <a:srgbClr val="000000">
                      <a:alpha val="43137"/>
                    </a:srgbClr>
                  </a:outerShdw>
                </a:effectLst>
                <a:highlight>
                  <a:srgbClr val="FF0000"/>
                </a:highlight>
                <a:latin typeface="Arial" panose="020B0604020202020204" pitchFamily="34" charset="0"/>
              </a:rPr>
              <a:t> Bridge Definition</a:t>
            </a:r>
            <a:r>
              <a:rPr lang="en-US" b="1" dirty="0">
                <a:solidFill>
                  <a:srgbClr val="000000"/>
                </a:solidFill>
                <a:latin typeface="Arial" panose="020B0604020202020204" pitchFamily="34" charset="0"/>
              </a:rPr>
              <a:t>:-</a:t>
            </a:r>
          </a:p>
          <a:p>
            <a:pPr algn="just" fontAlgn="base"/>
            <a:r>
              <a:rPr lang="en-US" dirty="0">
                <a:solidFill>
                  <a:srgbClr val="666666"/>
                </a:solidFill>
                <a:latin typeface="Arial" panose="020B0604020202020204" pitchFamily="34" charset="0"/>
              </a:rPr>
              <a:t>Maxwell’s bridge is also known as Maxwell’s Wein bridge or modified form of </a:t>
            </a:r>
            <a:r>
              <a:rPr lang="en-US" dirty="0">
                <a:solidFill>
                  <a:srgbClr val="E03800"/>
                </a:solidFill>
                <a:latin typeface="inherit"/>
                <a:hlinkClick r:id="rId2"/>
              </a:rPr>
              <a:t>Wheatstone bridge</a:t>
            </a:r>
            <a:r>
              <a:rPr lang="en-US" dirty="0">
                <a:solidFill>
                  <a:srgbClr val="666666"/>
                </a:solidFill>
                <a:latin typeface="Arial" panose="020B0604020202020204" pitchFamily="34" charset="0"/>
              </a:rPr>
              <a:t> or Maxwell’s inductance capacitance bridge, consists of four arms used to measure unknown inductances in terms of calibrated capacitances and resistances.</a:t>
            </a:r>
          </a:p>
          <a:p>
            <a:pPr algn="just" fontAlgn="base"/>
            <a:endParaRPr lang="en-US" dirty="0">
              <a:solidFill>
                <a:srgbClr val="666666"/>
              </a:solidFill>
              <a:latin typeface="Arial" panose="020B0604020202020204" pitchFamily="34" charset="0"/>
            </a:endParaRPr>
          </a:p>
          <a:p>
            <a:pPr algn="just" fontAlgn="base"/>
            <a:r>
              <a:rPr lang="en-US" dirty="0">
                <a:solidFill>
                  <a:srgbClr val="666666"/>
                </a:solidFill>
                <a:latin typeface="Arial" panose="020B0604020202020204" pitchFamily="34" charset="0"/>
              </a:rPr>
              <a:t> It can be used to measure unknown inductance value and compares it with the standard value. It works on the principle of comparison of known and unknown inductance values.</a:t>
            </a:r>
            <a:endParaRPr lang="en-US" b="0" i="0" dirty="0">
              <a:solidFill>
                <a:srgbClr val="666666"/>
              </a:solidFill>
              <a:effectLst/>
              <a:latin typeface="Arial" panose="020B0604020202020204" pitchFamily="34" charset="0"/>
            </a:endParaRPr>
          </a:p>
        </p:txBody>
      </p:sp>
      <p:sp>
        <p:nvSpPr>
          <p:cNvPr id="3" name="Rectangle 2">
            <a:extLst>
              <a:ext uri="{FF2B5EF4-FFF2-40B4-BE49-F238E27FC236}">
                <a16:creationId xmlns:a16="http://schemas.microsoft.com/office/drawing/2014/main" id="{98BB10A3-D0EF-4013-9733-4E9D0852CC81}"/>
              </a:ext>
            </a:extLst>
          </p:cNvPr>
          <p:cNvSpPr/>
          <p:nvPr/>
        </p:nvSpPr>
        <p:spPr>
          <a:xfrm>
            <a:off x="177281" y="2304661"/>
            <a:ext cx="11849877" cy="2308324"/>
          </a:xfrm>
          <a:prstGeom prst="rect">
            <a:avLst/>
          </a:prstGeom>
        </p:spPr>
        <p:txBody>
          <a:bodyPr wrap="square">
            <a:spAutoFit/>
          </a:bodyPr>
          <a:lstStyle/>
          <a:p>
            <a:pPr algn="just" fontAlgn="base"/>
            <a:r>
              <a:rPr lang="en-US" dirty="0">
                <a:solidFill>
                  <a:srgbClr val="666666"/>
                </a:solidFill>
                <a:latin typeface="Arial" panose="020B0604020202020204" pitchFamily="34" charset="0"/>
              </a:rPr>
              <a:t>It uses the null deflection method to calculate inductance with a parallel calibrated </a:t>
            </a:r>
            <a:r>
              <a:rPr lang="en-US" dirty="0">
                <a:solidFill>
                  <a:srgbClr val="E03800"/>
                </a:solidFill>
                <a:latin typeface="inherit"/>
                <a:hlinkClick r:id="rId3"/>
              </a:rPr>
              <a:t>resistor</a:t>
            </a:r>
            <a:r>
              <a:rPr lang="en-US" dirty="0">
                <a:solidFill>
                  <a:srgbClr val="666666"/>
                </a:solidFill>
                <a:latin typeface="Arial" panose="020B0604020202020204" pitchFamily="34" charset="0"/>
              </a:rPr>
              <a:t> and capacitor. The Maxwell’s bridge circuit is said to be in resonance if the positive phase angle of an inductive impedance is compensated with the negative phase angle of the capacitive impedance (connected in the opposite arm). Hence there will be no current flowing through the circuit and no potential across the null detector.</a:t>
            </a:r>
          </a:p>
          <a:p>
            <a:pPr algn="just" fontAlgn="base"/>
            <a:endParaRPr lang="en-US" dirty="0">
              <a:solidFill>
                <a:srgbClr val="666666"/>
              </a:solidFill>
              <a:latin typeface="Arial" panose="020B0604020202020204" pitchFamily="34" charset="0"/>
            </a:endParaRPr>
          </a:p>
          <a:p>
            <a:pPr algn="just" fontAlgn="base"/>
            <a:r>
              <a:rPr lang="en-US" b="1" dirty="0" err="1">
                <a:solidFill>
                  <a:srgbClr val="000000"/>
                </a:solidFill>
                <a:latin typeface="Arial" panose="020B0604020202020204" pitchFamily="34" charset="0"/>
              </a:rPr>
              <a:t>Maxwells</a:t>
            </a:r>
            <a:r>
              <a:rPr lang="en-US" b="1" dirty="0">
                <a:solidFill>
                  <a:srgbClr val="000000"/>
                </a:solidFill>
                <a:latin typeface="Arial" panose="020B0604020202020204" pitchFamily="34" charset="0"/>
              </a:rPr>
              <a:t> Bridge Formula</a:t>
            </a:r>
          </a:p>
          <a:p>
            <a:pPr algn="just" fontAlgn="base"/>
            <a:r>
              <a:rPr lang="en-US" dirty="0">
                <a:solidFill>
                  <a:srgbClr val="666666"/>
                </a:solidFill>
                <a:latin typeface="Arial" panose="020B0604020202020204" pitchFamily="34" charset="0"/>
              </a:rPr>
              <a:t>If the </a:t>
            </a:r>
            <a:r>
              <a:rPr lang="en-US" dirty="0" err="1">
                <a:solidFill>
                  <a:srgbClr val="666666"/>
                </a:solidFill>
                <a:latin typeface="Arial" panose="020B0604020202020204" pitchFamily="34" charset="0"/>
              </a:rPr>
              <a:t>maxwell’s</a:t>
            </a:r>
            <a:r>
              <a:rPr lang="en-US" dirty="0">
                <a:solidFill>
                  <a:srgbClr val="666666"/>
                </a:solidFill>
                <a:latin typeface="Arial" panose="020B0604020202020204" pitchFamily="34" charset="0"/>
              </a:rPr>
              <a:t> bridge is in balance condition, the unknown inductance can be measured by using a variable standard capacitor. The </a:t>
            </a:r>
            <a:r>
              <a:rPr lang="en-US" dirty="0" err="1">
                <a:solidFill>
                  <a:srgbClr val="666666"/>
                </a:solidFill>
                <a:latin typeface="Arial" panose="020B0604020202020204" pitchFamily="34" charset="0"/>
              </a:rPr>
              <a:t>maxwell’s</a:t>
            </a:r>
            <a:r>
              <a:rPr lang="en-US" dirty="0">
                <a:solidFill>
                  <a:srgbClr val="666666"/>
                </a:solidFill>
                <a:latin typeface="Arial" panose="020B0604020202020204" pitchFamily="34" charset="0"/>
              </a:rPr>
              <a:t> bridge formula is given as (in terms of inductance, resistance, and capacitance)</a:t>
            </a:r>
            <a:endParaRPr lang="en-US" b="0" i="0" dirty="0">
              <a:solidFill>
                <a:srgbClr val="666666"/>
              </a:solidFill>
              <a:effectLst/>
              <a:latin typeface="Arial" panose="020B0604020202020204" pitchFamily="34" charset="0"/>
            </a:endParaRPr>
          </a:p>
        </p:txBody>
      </p:sp>
      <p:sp>
        <p:nvSpPr>
          <p:cNvPr id="4" name="Rectangle 3">
            <a:extLst>
              <a:ext uri="{FF2B5EF4-FFF2-40B4-BE49-F238E27FC236}">
                <a16:creationId xmlns:a16="http://schemas.microsoft.com/office/drawing/2014/main" id="{BEC77DF3-E4F5-40C9-AAA8-F1E132858CF1}"/>
              </a:ext>
            </a:extLst>
          </p:cNvPr>
          <p:cNvSpPr/>
          <p:nvPr/>
        </p:nvSpPr>
        <p:spPr>
          <a:xfrm>
            <a:off x="3247052" y="4612985"/>
            <a:ext cx="5906279" cy="923330"/>
          </a:xfrm>
          <a:prstGeom prst="rect">
            <a:avLst/>
          </a:prstGeom>
        </p:spPr>
        <p:txBody>
          <a:bodyPr wrap="square">
            <a:spAutoFit/>
          </a:bodyPr>
          <a:lstStyle/>
          <a:p>
            <a:pPr algn="ctr" fontAlgn="base"/>
            <a:r>
              <a:rPr lang="pt-BR" b="1" dirty="0">
                <a:solidFill>
                  <a:srgbClr val="666666"/>
                </a:solidFill>
                <a:latin typeface="inherit"/>
              </a:rPr>
              <a:t>R1 = R2r3/R4</a:t>
            </a:r>
          </a:p>
          <a:p>
            <a:pPr algn="ctr" fontAlgn="base"/>
            <a:endParaRPr lang="pt-BR" dirty="0">
              <a:solidFill>
                <a:srgbClr val="666666"/>
              </a:solidFill>
              <a:latin typeface="Arial" panose="020B0604020202020204" pitchFamily="34" charset="0"/>
            </a:endParaRPr>
          </a:p>
          <a:p>
            <a:pPr algn="ctr" fontAlgn="base"/>
            <a:r>
              <a:rPr lang="pt-BR" b="1" dirty="0">
                <a:solidFill>
                  <a:srgbClr val="666666"/>
                </a:solidFill>
                <a:latin typeface="inherit"/>
              </a:rPr>
              <a:t>L1= R2R3C4</a:t>
            </a:r>
            <a:endParaRPr lang="pt-BR" b="0" i="0" dirty="0">
              <a:solidFill>
                <a:srgbClr val="666666"/>
              </a:solidFill>
              <a:effectLst/>
              <a:latin typeface="Arial" panose="020B0604020202020204" pitchFamily="34" charset="0"/>
            </a:endParaRPr>
          </a:p>
        </p:txBody>
      </p:sp>
      <p:sp>
        <p:nvSpPr>
          <p:cNvPr id="5" name="Rectangle 4">
            <a:extLst>
              <a:ext uri="{FF2B5EF4-FFF2-40B4-BE49-F238E27FC236}">
                <a16:creationId xmlns:a16="http://schemas.microsoft.com/office/drawing/2014/main" id="{C29E9DF0-688B-40C7-BB61-7AA634193002}"/>
              </a:ext>
            </a:extLst>
          </p:cNvPr>
          <p:cNvSpPr/>
          <p:nvPr/>
        </p:nvSpPr>
        <p:spPr>
          <a:xfrm>
            <a:off x="177280" y="5449078"/>
            <a:ext cx="11849877" cy="923330"/>
          </a:xfrm>
          <a:prstGeom prst="rect">
            <a:avLst/>
          </a:prstGeom>
        </p:spPr>
        <p:txBody>
          <a:bodyPr wrap="square">
            <a:spAutoFit/>
          </a:bodyPr>
          <a:lstStyle/>
          <a:p>
            <a:pPr algn="just" fontAlgn="base"/>
            <a:r>
              <a:rPr lang="en-US" dirty="0">
                <a:solidFill>
                  <a:srgbClr val="666666"/>
                </a:solidFill>
                <a:latin typeface="Arial" panose="020B0604020202020204" pitchFamily="34" charset="0"/>
              </a:rPr>
              <a:t>The quality factor of Maxwell’s bridge circuit is given as,</a:t>
            </a:r>
          </a:p>
          <a:p>
            <a:pPr algn="just" fontAlgn="base"/>
            <a:endParaRPr lang="en-US" dirty="0">
              <a:solidFill>
                <a:srgbClr val="666666"/>
              </a:solidFill>
              <a:latin typeface="Arial" panose="020B0604020202020204" pitchFamily="34" charset="0"/>
            </a:endParaRPr>
          </a:p>
          <a:p>
            <a:pPr algn="ctr" fontAlgn="base"/>
            <a:r>
              <a:rPr lang="en-US" b="1" dirty="0">
                <a:solidFill>
                  <a:srgbClr val="666666"/>
                </a:solidFill>
                <a:latin typeface="inherit"/>
              </a:rPr>
              <a:t>Q = ωL1/R1 = ωC4R4</a:t>
            </a:r>
            <a:endParaRPr lang="en-US"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3866309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FCAEBE-C749-4BA1-A607-1AE9641CC5F1}"/>
              </a:ext>
            </a:extLst>
          </p:cNvPr>
          <p:cNvSpPr/>
          <p:nvPr/>
        </p:nvSpPr>
        <p:spPr>
          <a:xfrm>
            <a:off x="186612" y="251928"/>
            <a:ext cx="11859208" cy="1200329"/>
          </a:xfrm>
          <a:prstGeom prst="rect">
            <a:avLst/>
          </a:prstGeom>
        </p:spPr>
        <p:txBody>
          <a:bodyPr wrap="square">
            <a:spAutoFit/>
          </a:bodyPr>
          <a:lstStyle/>
          <a:p>
            <a:pPr algn="just" fontAlgn="base"/>
            <a:r>
              <a:rPr lang="en-US" b="1" dirty="0" err="1">
                <a:solidFill>
                  <a:srgbClr val="000000"/>
                </a:solidFill>
                <a:latin typeface="Arial" panose="020B0604020202020204" pitchFamily="34" charset="0"/>
              </a:rPr>
              <a:t>Maxwells</a:t>
            </a:r>
            <a:r>
              <a:rPr lang="en-US" b="1" dirty="0">
                <a:solidFill>
                  <a:srgbClr val="000000"/>
                </a:solidFill>
                <a:latin typeface="Arial" panose="020B0604020202020204" pitchFamily="34" charset="0"/>
              </a:rPr>
              <a:t> Bridge Circuit</a:t>
            </a:r>
          </a:p>
          <a:p>
            <a:pPr algn="just" fontAlgn="base"/>
            <a:r>
              <a:rPr lang="en-US" dirty="0">
                <a:solidFill>
                  <a:srgbClr val="666666"/>
                </a:solidFill>
                <a:latin typeface="Arial" panose="020B0604020202020204" pitchFamily="34" charset="0"/>
              </a:rPr>
              <a:t>Maxwell’s bridge circuit consists of 4 arms connected in square or rhombus shape. In this circuit, two arms contain a single resistor, another one arm contains a resistor and inductor in series combination, and the last arm contains a resistor and capacitor in parallel combination. The basic Maxwell’s bridge circuit is shown below.</a:t>
            </a:r>
            <a:endParaRPr lang="en-US" b="0" i="0" dirty="0">
              <a:solidFill>
                <a:srgbClr val="666666"/>
              </a:solidFill>
              <a:effectLst/>
              <a:latin typeface="Arial" panose="020B0604020202020204" pitchFamily="34" charset="0"/>
            </a:endParaRPr>
          </a:p>
        </p:txBody>
      </p:sp>
      <p:pic>
        <p:nvPicPr>
          <p:cNvPr id="3" name="Picture 2">
            <a:extLst>
              <a:ext uri="{FF2B5EF4-FFF2-40B4-BE49-F238E27FC236}">
                <a16:creationId xmlns:a16="http://schemas.microsoft.com/office/drawing/2014/main" id="{B58066E9-0237-421E-8C0D-79AF5DF65C02}"/>
              </a:ext>
            </a:extLst>
          </p:cNvPr>
          <p:cNvPicPr>
            <a:picLocks noChangeAspect="1"/>
          </p:cNvPicPr>
          <p:nvPr/>
        </p:nvPicPr>
        <p:blipFill>
          <a:blip r:embed="rId2"/>
          <a:stretch>
            <a:fillRect/>
          </a:stretch>
        </p:blipFill>
        <p:spPr>
          <a:xfrm>
            <a:off x="2267339" y="2071687"/>
            <a:ext cx="8201608" cy="4394427"/>
          </a:xfrm>
          <a:prstGeom prst="rect">
            <a:avLst/>
          </a:prstGeom>
        </p:spPr>
      </p:pic>
    </p:spTree>
    <p:extLst>
      <p:ext uri="{BB962C8B-B14F-4D97-AF65-F5344CB8AC3E}">
        <p14:creationId xmlns:p14="http://schemas.microsoft.com/office/powerpoint/2010/main" val="954757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A7AEF2-AEC3-4664-9116-526DC17A4C3B}"/>
              </a:ext>
            </a:extLst>
          </p:cNvPr>
          <p:cNvSpPr/>
          <p:nvPr/>
        </p:nvSpPr>
        <p:spPr>
          <a:xfrm>
            <a:off x="121298" y="214604"/>
            <a:ext cx="11915192" cy="3970318"/>
          </a:xfrm>
          <a:prstGeom prst="rect">
            <a:avLst/>
          </a:prstGeom>
        </p:spPr>
        <p:txBody>
          <a:bodyPr wrap="square">
            <a:spAutoFit/>
          </a:bodyPr>
          <a:lstStyle/>
          <a:p>
            <a:pPr algn="just" fontAlgn="base"/>
            <a:r>
              <a:rPr lang="en-US" dirty="0">
                <a:solidFill>
                  <a:srgbClr val="666666"/>
                </a:solidFill>
                <a:latin typeface="Arial" panose="020B0604020202020204" pitchFamily="34" charset="0"/>
              </a:rPr>
              <a:t>An AC voltage source and a null detector are connected in diagonal to the bridge circuit to measure the unknown inductance value and compared with the known values.</a:t>
            </a:r>
          </a:p>
          <a:p>
            <a:pPr algn="just" fontAlgn="base"/>
            <a:endParaRPr lang="en-US" dirty="0">
              <a:solidFill>
                <a:srgbClr val="666666"/>
              </a:solidFill>
              <a:latin typeface="Arial" panose="020B0604020202020204" pitchFamily="34" charset="0"/>
            </a:endParaRPr>
          </a:p>
          <a:p>
            <a:pPr algn="just" fontAlgn="base"/>
            <a:r>
              <a:rPr lang="en-US" b="1" dirty="0" err="1">
                <a:solidFill>
                  <a:srgbClr val="000000"/>
                </a:solidFill>
                <a:latin typeface="Arial" panose="020B0604020202020204" pitchFamily="34" charset="0"/>
              </a:rPr>
              <a:t>Maxwells</a:t>
            </a:r>
            <a:r>
              <a:rPr lang="en-US" b="1" dirty="0">
                <a:solidFill>
                  <a:srgbClr val="000000"/>
                </a:solidFill>
                <a:latin typeface="Arial" panose="020B0604020202020204" pitchFamily="34" charset="0"/>
              </a:rPr>
              <a:t> Bridge Equation</a:t>
            </a:r>
          </a:p>
          <a:p>
            <a:pPr algn="just" fontAlgn="base"/>
            <a:r>
              <a:rPr lang="en-US" dirty="0">
                <a:solidFill>
                  <a:srgbClr val="666666"/>
                </a:solidFill>
                <a:latin typeface="Arial" panose="020B0604020202020204" pitchFamily="34" charset="0"/>
              </a:rPr>
              <a:t>From the circuit, AB, BC, CD, and DA are the 4 arms connected in rhombus shape.</a:t>
            </a:r>
          </a:p>
          <a:p>
            <a:pPr algn="just" fontAlgn="base"/>
            <a:endParaRPr lang="en-US" dirty="0">
              <a:solidFill>
                <a:srgbClr val="666666"/>
              </a:solidFill>
              <a:latin typeface="Arial" panose="020B0604020202020204" pitchFamily="34" charset="0"/>
            </a:endParaRPr>
          </a:p>
          <a:p>
            <a:pPr algn="just" fontAlgn="base"/>
            <a:r>
              <a:rPr lang="en-US" dirty="0">
                <a:solidFill>
                  <a:srgbClr val="666666"/>
                </a:solidFill>
                <a:latin typeface="Arial" panose="020B0604020202020204" pitchFamily="34" charset="0"/>
              </a:rPr>
              <a:t>AB and CD are the resistors R2 and R3,</a:t>
            </a:r>
          </a:p>
          <a:p>
            <a:pPr algn="just" fontAlgn="base"/>
            <a:endParaRPr lang="en-US" dirty="0">
              <a:solidFill>
                <a:srgbClr val="666666"/>
              </a:solidFill>
              <a:latin typeface="Arial" panose="020B0604020202020204" pitchFamily="34" charset="0"/>
            </a:endParaRPr>
          </a:p>
          <a:p>
            <a:pPr algn="just" fontAlgn="base"/>
            <a:r>
              <a:rPr lang="en-US" dirty="0">
                <a:solidFill>
                  <a:srgbClr val="666666"/>
                </a:solidFill>
                <a:latin typeface="Arial" panose="020B0604020202020204" pitchFamily="34" charset="0"/>
              </a:rPr>
              <a:t>BC is a series combination of resistor and inductor given as Rx and Lx.</a:t>
            </a:r>
          </a:p>
          <a:p>
            <a:pPr algn="just" fontAlgn="base"/>
            <a:endParaRPr lang="en-US" dirty="0">
              <a:solidFill>
                <a:srgbClr val="666666"/>
              </a:solidFill>
              <a:latin typeface="Arial" panose="020B0604020202020204" pitchFamily="34" charset="0"/>
            </a:endParaRPr>
          </a:p>
          <a:p>
            <a:pPr algn="just" fontAlgn="base"/>
            <a:r>
              <a:rPr lang="en-US" dirty="0">
                <a:solidFill>
                  <a:srgbClr val="666666"/>
                </a:solidFill>
                <a:latin typeface="Arial" panose="020B0604020202020204" pitchFamily="34" charset="0"/>
              </a:rPr>
              <a:t>DA is a parallel combination of resistor and capacitor given as R1 and C1</a:t>
            </a:r>
          </a:p>
          <a:p>
            <a:pPr algn="just" fontAlgn="base"/>
            <a:endParaRPr lang="en-US" dirty="0">
              <a:solidFill>
                <a:srgbClr val="666666"/>
              </a:solidFill>
              <a:latin typeface="Arial" panose="020B0604020202020204" pitchFamily="34" charset="0"/>
            </a:endParaRPr>
          </a:p>
          <a:p>
            <a:pPr algn="just" fontAlgn="base"/>
            <a:r>
              <a:rPr lang="en-US" dirty="0">
                <a:solidFill>
                  <a:srgbClr val="666666"/>
                </a:solidFill>
                <a:latin typeface="Arial" panose="020B0604020202020204" pitchFamily="34" charset="0"/>
              </a:rPr>
              <a:t>Consider Z1, Z2, Z3, and ZX are the impedances of the 4 arms of the bridge circuit. The values for these impedances are given as,</a:t>
            </a:r>
            <a:endParaRPr lang="en-US" b="0" i="0" dirty="0">
              <a:solidFill>
                <a:srgbClr val="666666"/>
              </a:solidFill>
              <a:effectLst/>
              <a:latin typeface="Arial" panose="020B0604020202020204" pitchFamily="34" charset="0"/>
            </a:endParaRPr>
          </a:p>
        </p:txBody>
      </p:sp>
      <p:sp>
        <p:nvSpPr>
          <p:cNvPr id="3" name="Rectangle 2">
            <a:extLst>
              <a:ext uri="{FF2B5EF4-FFF2-40B4-BE49-F238E27FC236}">
                <a16:creationId xmlns:a16="http://schemas.microsoft.com/office/drawing/2014/main" id="{4A861587-EE1D-42CB-B723-C901F4C9E2B2}"/>
              </a:ext>
            </a:extLst>
          </p:cNvPr>
          <p:cNvSpPr/>
          <p:nvPr/>
        </p:nvSpPr>
        <p:spPr>
          <a:xfrm>
            <a:off x="3048000" y="4105468"/>
            <a:ext cx="6618514" cy="2585323"/>
          </a:xfrm>
          <a:prstGeom prst="rect">
            <a:avLst/>
          </a:prstGeom>
        </p:spPr>
        <p:txBody>
          <a:bodyPr wrap="square">
            <a:spAutoFit/>
          </a:bodyPr>
          <a:lstStyle/>
          <a:p>
            <a:pPr fontAlgn="base"/>
            <a:r>
              <a:rPr lang="en-IN" b="1" dirty="0">
                <a:solidFill>
                  <a:srgbClr val="666666"/>
                </a:solidFill>
                <a:latin typeface="inherit"/>
              </a:rPr>
              <a:t>Z1 = (R1+jwL1) [ since Z1=R1+1/jwC1 ]</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Z2 = R2</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Z3=R3</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ZX= (R4+jwLX)</a:t>
            </a:r>
          </a:p>
          <a:p>
            <a:pPr fontAlgn="base"/>
            <a:endParaRPr lang="en-IN" dirty="0">
              <a:solidFill>
                <a:srgbClr val="666666"/>
              </a:solidFill>
              <a:latin typeface="Arial" panose="020B0604020202020204" pitchFamily="34" charset="0"/>
            </a:endParaRPr>
          </a:p>
          <a:p>
            <a:pPr fontAlgn="base"/>
            <a:r>
              <a:rPr lang="en-IN" dirty="0">
                <a:solidFill>
                  <a:srgbClr val="666666"/>
                </a:solidFill>
                <a:latin typeface="Arial" panose="020B0604020202020204" pitchFamily="34" charset="0"/>
              </a:rPr>
              <a:t>Or</a:t>
            </a:r>
            <a:endParaRPr lang="en-IN"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16889237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ED48A1A-1C94-4024-87DC-4BAC66C74C71}"/>
              </a:ext>
            </a:extLst>
          </p:cNvPr>
          <p:cNvSpPr/>
          <p:nvPr/>
        </p:nvSpPr>
        <p:spPr>
          <a:xfrm>
            <a:off x="410547" y="270589"/>
            <a:ext cx="8733453" cy="6186309"/>
          </a:xfrm>
          <a:prstGeom prst="rect">
            <a:avLst/>
          </a:prstGeom>
        </p:spPr>
        <p:txBody>
          <a:bodyPr wrap="square">
            <a:spAutoFit/>
          </a:bodyPr>
          <a:lstStyle/>
          <a:p>
            <a:pPr fontAlgn="base"/>
            <a:r>
              <a:rPr lang="en-IN" b="1" dirty="0">
                <a:solidFill>
                  <a:srgbClr val="666666"/>
                </a:solidFill>
                <a:latin typeface="inherit"/>
              </a:rPr>
              <a:t>                                           Z1= R1 in parallel with C1 that is, Y1=1/Z1</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Y1 = 1/R1 + j </a:t>
            </a:r>
            <a:r>
              <a:rPr lang="el-GR" b="1" dirty="0">
                <a:solidFill>
                  <a:srgbClr val="666666"/>
                </a:solidFill>
                <a:latin typeface="inherit"/>
              </a:rPr>
              <a:t>ω</a:t>
            </a:r>
            <a:r>
              <a:rPr lang="en-IN" b="1" dirty="0">
                <a:solidFill>
                  <a:srgbClr val="666666"/>
                </a:solidFill>
                <a:latin typeface="inherit"/>
              </a:rPr>
              <a:t>C1</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Z2=R2</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Z3=R3</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a:t>
            </a:r>
            <a:r>
              <a:rPr lang="en-IN" b="1" dirty="0" err="1">
                <a:solidFill>
                  <a:srgbClr val="666666"/>
                </a:solidFill>
                <a:latin typeface="inherit"/>
              </a:rPr>
              <a:t>Zx</a:t>
            </a:r>
            <a:r>
              <a:rPr lang="en-IN" b="1" dirty="0">
                <a:solidFill>
                  <a:srgbClr val="666666"/>
                </a:solidFill>
                <a:latin typeface="inherit"/>
              </a:rPr>
              <a:t>=Rx in series with Lx =</a:t>
            </a:r>
            <a:r>
              <a:rPr lang="en-IN" b="1" dirty="0" err="1">
                <a:solidFill>
                  <a:srgbClr val="666666"/>
                </a:solidFill>
                <a:latin typeface="inherit"/>
              </a:rPr>
              <a:t>Rx+j</a:t>
            </a:r>
            <a:r>
              <a:rPr lang="el-GR" b="1" dirty="0">
                <a:solidFill>
                  <a:srgbClr val="666666"/>
                </a:solidFill>
                <a:latin typeface="inherit"/>
              </a:rPr>
              <a:t>ω</a:t>
            </a:r>
            <a:r>
              <a:rPr lang="en-IN" b="1" dirty="0">
                <a:solidFill>
                  <a:srgbClr val="666666"/>
                </a:solidFill>
                <a:latin typeface="inherit"/>
              </a:rPr>
              <a:t>Lx</a:t>
            </a:r>
          </a:p>
          <a:p>
            <a:pPr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Take the balance equation of a basic AC bridge circuit as follows,</a:t>
            </a:r>
          </a:p>
          <a:p>
            <a:pPr algn="just"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Z1Zx=Z2Z3</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a:t>
            </a:r>
            <a:r>
              <a:rPr lang="en-IN" b="1" dirty="0" err="1">
                <a:solidFill>
                  <a:srgbClr val="666666"/>
                </a:solidFill>
                <a:latin typeface="inherit"/>
              </a:rPr>
              <a:t>Zx</a:t>
            </a:r>
            <a:r>
              <a:rPr lang="en-IN" b="1" dirty="0">
                <a:solidFill>
                  <a:srgbClr val="666666"/>
                </a:solidFill>
                <a:latin typeface="inherit"/>
              </a:rPr>
              <a:t>=Z2Z3/Z1……………………………………….(1)</a:t>
            </a:r>
          </a:p>
          <a:p>
            <a:pPr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Substitute the values of impedances of Maxwell’s bridge circuit in the above balance equation. Then,</a:t>
            </a:r>
          </a:p>
          <a:p>
            <a:pPr algn="just"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a:t>
            </a:r>
            <a:r>
              <a:rPr lang="en-IN" b="1" dirty="0" err="1">
                <a:solidFill>
                  <a:srgbClr val="666666"/>
                </a:solidFill>
                <a:latin typeface="inherit"/>
              </a:rPr>
              <a:t>Rx+j</a:t>
            </a:r>
            <a:r>
              <a:rPr lang="el-GR" b="1" dirty="0">
                <a:solidFill>
                  <a:srgbClr val="666666"/>
                </a:solidFill>
                <a:latin typeface="inherit"/>
              </a:rPr>
              <a:t>ω</a:t>
            </a:r>
            <a:r>
              <a:rPr lang="en-IN" b="1" dirty="0">
                <a:solidFill>
                  <a:srgbClr val="666666"/>
                </a:solidFill>
                <a:latin typeface="inherit"/>
              </a:rPr>
              <a:t>Lx = R2R3 ((1/R1)+j</a:t>
            </a:r>
            <a:r>
              <a:rPr lang="el-GR" b="1" dirty="0">
                <a:solidFill>
                  <a:srgbClr val="666666"/>
                </a:solidFill>
                <a:latin typeface="inherit"/>
              </a:rPr>
              <a:t>ω</a:t>
            </a:r>
            <a:r>
              <a:rPr lang="en-IN" b="1" dirty="0">
                <a:solidFill>
                  <a:srgbClr val="666666"/>
                </a:solidFill>
                <a:latin typeface="inherit"/>
              </a:rPr>
              <a:t>C1)</a:t>
            </a:r>
          </a:p>
          <a:p>
            <a:pPr fontAlgn="base"/>
            <a:endParaRPr lang="en-IN" dirty="0">
              <a:solidFill>
                <a:srgbClr val="666666"/>
              </a:solidFill>
              <a:latin typeface="Arial" panose="020B0604020202020204" pitchFamily="34" charset="0"/>
            </a:endParaRPr>
          </a:p>
          <a:p>
            <a:pPr fontAlgn="base"/>
            <a:r>
              <a:rPr lang="en-IN" b="1" dirty="0">
                <a:solidFill>
                  <a:srgbClr val="666666"/>
                </a:solidFill>
                <a:latin typeface="inherit"/>
              </a:rPr>
              <a:t>                                            </a:t>
            </a:r>
            <a:r>
              <a:rPr lang="en-IN" b="1" dirty="0" err="1">
                <a:solidFill>
                  <a:srgbClr val="666666"/>
                </a:solidFill>
                <a:latin typeface="inherit"/>
              </a:rPr>
              <a:t>Rx+j</a:t>
            </a:r>
            <a:r>
              <a:rPr lang="el-GR" b="1" dirty="0">
                <a:solidFill>
                  <a:srgbClr val="666666"/>
                </a:solidFill>
                <a:latin typeface="inherit"/>
              </a:rPr>
              <a:t>ω</a:t>
            </a:r>
            <a:r>
              <a:rPr lang="en-IN" b="1" dirty="0">
                <a:solidFill>
                  <a:srgbClr val="666666"/>
                </a:solidFill>
                <a:latin typeface="inherit"/>
              </a:rPr>
              <a:t>Lx = R2R3/R1+ j</a:t>
            </a:r>
            <a:r>
              <a:rPr lang="el-GR" b="1" dirty="0">
                <a:solidFill>
                  <a:srgbClr val="666666"/>
                </a:solidFill>
                <a:latin typeface="inherit"/>
              </a:rPr>
              <a:t>ω</a:t>
            </a:r>
            <a:r>
              <a:rPr lang="en-IN" b="1" dirty="0">
                <a:solidFill>
                  <a:srgbClr val="666666"/>
                </a:solidFill>
                <a:latin typeface="inherit"/>
              </a:rPr>
              <a:t>C1R2R3</a:t>
            </a:r>
            <a:endParaRPr lang="en-IN" dirty="0">
              <a:solidFill>
                <a:srgbClr val="666666"/>
              </a:solidFill>
              <a:latin typeface="Arial" panose="020B0604020202020204" pitchFamily="34" charset="0"/>
            </a:endParaRPr>
          </a:p>
        </p:txBody>
      </p:sp>
    </p:spTree>
    <p:extLst>
      <p:ext uri="{BB962C8B-B14F-4D97-AF65-F5344CB8AC3E}">
        <p14:creationId xmlns:p14="http://schemas.microsoft.com/office/powerpoint/2010/main" val="2588503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F440F8C-5953-4DBA-99A1-7FBEA0C8DF72}"/>
              </a:ext>
            </a:extLst>
          </p:cNvPr>
          <p:cNvSpPr/>
          <p:nvPr/>
        </p:nvSpPr>
        <p:spPr>
          <a:xfrm>
            <a:off x="139959" y="93306"/>
            <a:ext cx="11896531" cy="923330"/>
          </a:xfrm>
          <a:prstGeom prst="rect">
            <a:avLst/>
          </a:prstGeom>
        </p:spPr>
        <p:txBody>
          <a:bodyPr wrap="square">
            <a:spAutoFit/>
          </a:bodyPr>
          <a:lstStyle/>
          <a:p>
            <a:pPr algn="just" fontAlgn="base"/>
            <a:r>
              <a:rPr lang="en-IN" dirty="0">
                <a:solidFill>
                  <a:srgbClr val="666666"/>
                </a:solidFill>
                <a:latin typeface="Arial" panose="020B0604020202020204" pitchFamily="34" charset="0"/>
              </a:rPr>
              <a:t>Now equate the real and imaginary terms from the above two equations,</a:t>
            </a:r>
          </a:p>
          <a:p>
            <a:pPr algn="just" fontAlgn="base"/>
            <a:r>
              <a:rPr lang="en-IN" b="1" dirty="0">
                <a:solidFill>
                  <a:srgbClr val="666666"/>
                </a:solidFill>
                <a:latin typeface="inherit"/>
              </a:rPr>
              <a:t>                                                                  Rx = R2R3/R1 and  j</a:t>
            </a:r>
            <a:r>
              <a:rPr lang="el-GR" b="1" dirty="0">
                <a:solidFill>
                  <a:srgbClr val="666666"/>
                </a:solidFill>
                <a:latin typeface="inherit"/>
              </a:rPr>
              <a:t>ω</a:t>
            </a:r>
            <a:r>
              <a:rPr lang="en-IN" b="1" dirty="0">
                <a:solidFill>
                  <a:srgbClr val="666666"/>
                </a:solidFill>
                <a:latin typeface="inherit"/>
              </a:rPr>
              <a:t>Lx = j</a:t>
            </a:r>
            <a:r>
              <a:rPr lang="el-GR" b="1" dirty="0">
                <a:solidFill>
                  <a:srgbClr val="666666"/>
                </a:solidFill>
                <a:latin typeface="inherit"/>
              </a:rPr>
              <a:t>ω</a:t>
            </a:r>
            <a:r>
              <a:rPr lang="en-IN" b="1" dirty="0">
                <a:solidFill>
                  <a:srgbClr val="666666"/>
                </a:solidFill>
                <a:latin typeface="inherit"/>
              </a:rPr>
              <a:t>C1R2R3</a:t>
            </a:r>
            <a:endParaRPr lang="en-IN" dirty="0">
              <a:solidFill>
                <a:srgbClr val="666666"/>
              </a:solidFill>
              <a:latin typeface="Arial" panose="020B0604020202020204" pitchFamily="34" charset="0"/>
            </a:endParaRPr>
          </a:p>
          <a:p>
            <a:pPr algn="just" fontAlgn="base"/>
            <a:r>
              <a:rPr lang="en-IN" b="1" dirty="0">
                <a:solidFill>
                  <a:srgbClr val="666666"/>
                </a:solidFill>
                <a:latin typeface="inherit"/>
              </a:rPr>
              <a:t>                                                                   Rx = R2R3/R1 and Lx =C1R2R3</a:t>
            </a:r>
            <a:endParaRPr lang="en-IN" dirty="0">
              <a:solidFill>
                <a:srgbClr val="666666"/>
              </a:solidFill>
              <a:latin typeface="Arial" panose="020B0604020202020204" pitchFamily="34" charset="0"/>
            </a:endParaRPr>
          </a:p>
        </p:txBody>
      </p:sp>
      <p:sp>
        <p:nvSpPr>
          <p:cNvPr id="3" name="Rectangle 2">
            <a:extLst>
              <a:ext uri="{FF2B5EF4-FFF2-40B4-BE49-F238E27FC236}">
                <a16:creationId xmlns:a16="http://schemas.microsoft.com/office/drawing/2014/main" id="{DCB91C30-DB27-460C-9FB3-9D91098CF5FC}"/>
              </a:ext>
            </a:extLst>
          </p:cNvPr>
          <p:cNvSpPr/>
          <p:nvPr/>
        </p:nvSpPr>
        <p:spPr>
          <a:xfrm>
            <a:off x="214604" y="1101012"/>
            <a:ext cx="11821886" cy="3139321"/>
          </a:xfrm>
          <a:prstGeom prst="rect">
            <a:avLst/>
          </a:prstGeom>
        </p:spPr>
        <p:txBody>
          <a:bodyPr wrap="square">
            <a:spAutoFit/>
          </a:bodyPr>
          <a:lstStyle/>
          <a:p>
            <a:pPr algn="just" fontAlgn="base"/>
            <a:r>
              <a:rPr lang="en-IN" b="1" dirty="0">
                <a:solidFill>
                  <a:srgbClr val="666666"/>
                </a:solidFill>
                <a:latin typeface="inherit"/>
              </a:rPr>
              <a:t>                                                                 Q = </a:t>
            </a:r>
            <a:r>
              <a:rPr lang="el-GR" b="1" dirty="0">
                <a:solidFill>
                  <a:srgbClr val="666666"/>
                </a:solidFill>
                <a:latin typeface="inherit"/>
              </a:rPr>
              <a:t>ω</a:t>
            </a:r>
            <a:r>
              <a:rPr lang="en-IN" b="1" dirty="0">
                <a:solidFill>
                  <a:srgbClr val="666666"/>
                </a:solidFill>
                <a:latin typeface="inherit"/>
              </a:rPr>
              <a:t>Lx/Rx = </a:t>
            </a:r>
            <a:r>
              <a:rPr lang="el-GR" b="1" dirty="0">
                <a:solidFill>
                  <a:srgbClr val="666666"/>
                </a:solidFill>
                <a:latin typeface="inherit"/>
              </a:rPr>
              <a:t>ω</a:t>
            </a:r>
            <a:r>
              <a:rPr lang="en-IN" b="1" dirty="0">
                <a:solidFill>
                  <a:srgbClr val="666666"/>
                </a:solidFill>
                <a:latin typeface="inherit"/>
              </a:rPr>
              <a:t>C1R2R3x R1/R2R3 = </a:t>
            </a:r>
            <a:r>
              <a:rPr lang="el-GR" b="1" dirty="0">
                <a:solidFill>
                  <a:srgbClr val="666666"/>
                </a:solidFill>
                <a:latin typeface="inherit"/>
              </a:rPr>
              <a:t>ω</a:t>
            </a:r>
            <a:r>
              <a:rPr lang="en-IN" b="1" dirty="0">
                <a:solidFill>
                  <a:srgbClr val="666666"/>
                </a:solidFill>
                <a:latin typeface="inherit"/>
              </a:rPr>
              <a:t>C1R1</a:t>
            </a:r>
          </a:p>
          <a:p>
            <a:pPr algn="just"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Where Q = quality factor of the bridge circuit</a:t>
            </a:r>
          </a:p>
          <a:p>
            <a:pPr algn="just"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Rx= unknown resistance</a:t>
            </a:r>
          </a:p>
          <a:p>
            <a:pPr algn="just"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Lx= unknown inductance</a:t>
            </a:r>
          </a:p>
          <a:p>
            <a:pPr algn="just"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R2 and R3 = known non-inductive resistances</a:t>
            </a:r>
          </a:p>
          <a:p>
            <a:pPr algn="just" fontAlgn="base"/>
            <a:endParaRPr lang="en-IN" dirty="0">
              <a:solidFill>
                <a:srgbClr val="666666"/>
              </a:solidFill>
              <a:latin typeface="Arial" panose="020B0604020202020204" pitchFamily="34" charset="0"/>
            </a:endParaRPr>
          </a:p>
          <a:p>
            <a:pPr algn="just" fontAlgn="base"/>
            <a:r>
              <a:rPr lang="en-IN" dirty="0">
                <a:solidFill>
                  <a:srgbClr val="666666"/>
                </a:solidFill>
                <a:latin typeface="Arial" panose="020B0604020202020204" pitchFamily="34" charset="0"/>
              </a:rPr>
              <a:t>C1 = capacitor connected in parallel to the variable resistor R1</a:t>
            </a:r>
            <a:endParaRPr lang="en-IN" b="0" i="0" dirty="0">
              <a:solidFill>
                <a:srgbClr val="666666"/>
              </a:solidFill>
              <a:effectLst/>
              <a:latin typeface="Arial" panose="020B0604020202020204" pitchFamily="34" charset="0"/>
            </a:endParaRPr>
          </a:p>
        </p:txBody>
      </p:sp>
      <p:sp>
        <p:nvSpPr>
          <p:cNvPr id="4" name="Rectangle 3">
            <a:extLst>
              <a:ext uri="{FF2B5EF4-FFF2-40B4-BE49-F238E27FC236}">
                <a16:creationId xmlns:a16="http://schemas.microsoft.com/office/drawing/2014/main" id="{EBD83A58-19CD-4A6D-9EC1-97551B9ABAEB}"/>
              </a:ext>
            </a:extLst>
          </p:cNvPr>
          <p:cNvSpPr/>
          <p:nvPr/>
        </p:nvSpPr>
        <p:spPr>
          <a:xfrm>
            <a:off x="279918" y="4114799"/>
            <a:ext cx="11756572" cy="2308324"/>
          </a:xfrm>
          <a:prstGeom prst="rect">
            <a:avLst/>
          </a:prstGeom>
        </p:spPr>
        <p:txBody>
          <a:bodyPr wrap="square">
            <a:spAutoFit/>
          </a:bodyPr>
          <a:lstStyle/>
          <a:p>
            <a:pPr algn="just" fontAlgn="base"/>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Advantages of </a:t>
            </a:r>
            <a:r>
              <a:rPr lang="en-US" b="1" u="sng" dirty="0" err="1">
                <a:solidFill>
                  <a:srgbClr val="000000"/>
                </a:solidFill>
                <a:effectLst>
                  <a:outerShdw blurRad="38100" dist="38100" dir="2700000" algn="tl">
                    <a:srgbClr val="000000">
                      <a:alpha val="43137"/>
                    </a:srgbClr>
                  </a:outerShdw>
                </a:effectLst>
                <a:latin typeface="Arial" panose="020B0604020202020204" pitchFamily="34" charset="0"/>
              </a:rPr>
              <a:t>Maxwells</a:t>
            </a:r>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 Bridges:-</a:t>
            </a:r>
          </a:p>
          <a:p>
            <a:pPr algn="just" fontAlgn="base">
              <a:buFont typeface="Arial" panose="020B0604020202020204" pitchFamily="34" charset="0"/>
              <a:buChar char="•"/>
            </a:pPr>
            <a:r>
              <a:rPr lang="en-US" dirty="0">
                <a:solidFill>
                  <a:srgbClr val="666666"/>
                </a:solidFill>
                <a:latin typeface="Arial" panose="020B0604020202020204" pitchFamily="34" charset="0"/>
              </a:rPr>
              <a:t>At the balance condition, the bridge circuit is independent of frequency</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It helps to measure a wide range of inductance values at audio and power frequency</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To measure the inductance value directly, the scale of calibrated resistance is used.</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It is used to measure the high range of inductances and compared with a standard value.</a:t>
            </a:r>
            <a:endParaRPr lang="en-US"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34416212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4982DA7-46C9-43D1-814A-B7A42F6742AE}"/>
              </a:ext>
            </a:extLst>
          </p:cNvPr>
          <p:cNvSpPr/>
          <p:nvPr/>
        </p:nvSpPr>
        <p:spPr>
          <a:xfrm>
            <a:off x="93306" y="139960"/>
            <a:ext cx="11980506" cy="6740307"/>
          </a:xfrm>
          <a:prstGeom prst="rect">
            <a:avLst/>
          </a:prstGeom>
        </p:spPr>
        <p:txBody>
          <a:bodyPr wrap="square">
            <a:spAutoFit/>
          </a:bodyPr>
          <a:lstStyle/>
          <a:p>
            <a:pPr algn="just" fontAlgn="base"/>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Disadvantages of </a:t>
            </a:r>
            <a:r>
              <a:rPr lang="en-US" b="1" u="sng" dirty="0" err="1">
                <a:solidFill>
                  <a:srgbClr val="000000"/>
                </a:solidFill>
                <a:effectLst>
                  <a:outerShdw blurRad="38100" dist="38100" dir="2700000" algn="tl">
                    <a:srgbClr val="000000">
                      <a:alpha val="43137"/>
                    </a:srgbClr>
                  </a:outerShdw>
                </a:effectLst>
                <a:latin typeface="Arial" panose="020B0604020202020204" pitchFamily="34" charset="0"/>
              </a:rPr>
              <a:t>Maxwells</a:t>
            </a:r>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 Bridge:-</a:t>
            </a:r>
          </a:p>
          <a:p>
            <a:pPr algn="just" fontAlgn="base">
              <a:buFont typeface="Arial" panose="020B0604020202020204" pitchFamily="34" charset="0"/>
              <a:buChar char="•"/>
            </a:pPr>
            <a:r>
              <a:rPr lang="en-US" dirty="0">
                <a:solidFill>
                  <a:srgbClr val="666666"/>
                </a:solidFill>
                <a:latin typeface="Arial" panose="020B0604020202020204" pitchFamily="34" charset="0"/>
              </a:rPr>
              <a:t>The fixed capacitor in Maxwell’s bridge circuit may create interaction between resistance and reactance balance.</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It is not suitable to measure a high range of quality factor ( Q values &gt;=10)</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The variable standard capacitor used in the circuit is very costly.</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It is not used to measure the low-quality factor ( Q value) due to the circuit balance condition. Hence it is used for medium quality coils.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Applications of </a:t>
            </a:r>
            <a:r>
              <a:rPr lang="en-US" b="1" u="sng" dirty="0" err="1">
                <a:solidFill>
                  <a:srgbClr val="000000"/>
                </a:solidFill>
                <a:effectLst>
                  <a:outerShdw blurRad="38100" dist="38100" dir="2700000" algn="tl">
                    <a:srgbClr val="000000">
                      <a:alpha val="43137"/>
                    </a:srgbClr>
                  </a:outerShdw>
                </a:effectLst>
                <a:latin typeface="Arial" panose="020B0604020202020204" pitchFamily="34" charset="0"/>
              </a:rPr>
              <a:t>Maxwells</a:t>
            </a:r>
            <a:r>
              <a:rPr lang="en-US" b="1" u="sng" dirty="0">
                <a:solidFill>
                  <a:srgbClr val="000000"/>
                </a:solidFill>
                <a:effectLst>
                  <a:outerShdw blurRad="38100" dist="38100" dir="2700000" algn="tl">
                    <a:srgbClr val="000000">
                      <a:alpha val="43137"/>
                    </a:srgbClr>
                  </a:outerShdw>
                </a:effectLst>
                <a:latin typeface="Arial" panose="020B0604020202020204" pitchFamily="34" charset="0"/>
              </a:rPr>
              <a:t> Bridge:-</a:t>
            </a:r>
          </a:p>
          <a:p>
            <a:pPr algn="just" fontAlgn="base">
              <a:buFont typeface="Arial" panose="020B0604020202020204" pitchFamily="34" charset="0"/>
              <a:buChar char="•"/>
            </a:pPr>
            <a:r>
              <a:rPr lang="en-US" dirty="0">
                <a:solidFill>
                  <a:srgbClr val="666666"/>
                </a:solidFill>
                <a:latin typeface="Arial" panose="020B0604020202020204" pitchFamily="34" charset="0"/>
              </a:rPr>
              <a:t>Used in communication systems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in electronic circuits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in power and audio frequency circuits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to measure unknown inductance values of the circuit and compared with a standard value.</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to measure medium quality coils.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in filter circuits, instrumentation, linear and non-linear circuits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Used in power conversion circuits.</a:t>
            </a:r>
            <a:endParaRPr lang="en-US"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1606992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0C274A-283F-4480-85ED-7584579EB1AC}"/>
              </a:ext>
            </a:extLst>
          </p:cNvPr>
          <p:cNvSpPr/>
          <p:nvPr/>
        </p:nvSpPr>
        <p:spPr>
          <a:xfrm>
            <a:off x="158619" y="74645"/>
            <a:ext cx="11933853" cy="5786199"/>
          </a:xfrm>
          <a:prstGeom prst="rect">
            <a:avLst/>
          </a:prstGeom>
        </p:spPr>
        <p:txBody>
          <a:bodyPr wrap="square">
            <a:spAutoFit/>
          </a:bodyPr>
          <a:lstStyle/>
          <a:p>
            <a:pPr algn="just"/>
            <a:r>
              <a:rPr lang="en-US" b="1" dirty="0">
                <a:solidFill>
                  <a:srgbClr val="000000"/>
                </a:solidFill>
                <a:latin typeface="Arial" panose="020B0604020202020204" pitchFamily="34" charset="0"/>
              </a:rPr>
              <a:t>two AC bridges</a:t>
            </a:r>
            <a:r>
              <a:rPr lang="en-US" dirty="0">
                <a:solidFill>
                  <a:srgbClr val="000000"/>
                </a:solidFill>
                <a:latin typeface="Arial" panose="020B0604020202020204" pitchFamily="34" charset="0"/>
              </a:rPr>
              <a:t>.</a:t>
            </a:r>
          </a:p>
          <a:p>
            <a:pPr algn="just"/>
            <a:endParaRPr lang="en-US" dirty="0">
              <a:solidFill>
                <a:srgbClr val="000000"/>
              </a:solidFill>
              <a:latin typeface="Arial" panose="020B0604020202020204" pitchFamily="34" charset="0"/>
            </a:endParaRPr>
          </a:p>
          <a:p>
            <a:pPr>
              <a:buFont typeface="Arial" panose="020B0604020202020204" pitchFamily="34" charset="0"/>
              <a:buChar char="•"/>
            </a:pPr>
            <a:r>
              <a:rPr lang="en-US" dirty="0">
                <a:latin typeface="Arial" panose="020B0604020202020204" pitchFamily="34" charset="0"/>
              </a:rPr>
              <a:t>                                                                          Schering Bridge</a:t>
            </a:r>
          </a:p>
          <a:p>
            <a:pPr>
              <a:buFont typeface="Arial" panose="020B0604020202020204" pitchFamily="34" charset="0"/>
              <a:buChar char="•"/>
            </a:pPr>
            <a:endParaRPr lang="en-US" dirty="0">
              <a:latin typeface="Arial" panose="020B0604020202020204" pitchFamily="34" charset="0"/>
            </a:endParaRPr>
          </a:p>
          <a:p>
            <a:pPr>
              <a:buFont typeface="Arial" panose="020B0604020202020204" pitchFamily="34" charset="0"/>
              <a:buChar char="•"/>
            </a:pPr>
            <a:r>
              <a:rPr lang="en-US" dirty="0">
                <a:latin typeface="Arial" panose="020B0604020202020204" pitchFamily="34" charset="0"/>
              </a:rPr>
              <a:t>                                                                          Wien’s Bridge</a:t>
            </a:r>
          </a:p>
          <a:p>
            <a:pPr>
              <a:buFont typeface="Arial" panose="020B0604020202020204" pitchFamily="34" charset="0"/>
              <a:buChar char="•"/>
            </a:pPr>
            <a:endParaRPr lang="en-US" dirty="0">
              <a:latin typeface="Arial" panose="020B0604020202020204" pitchFamily="34" charset="0"/>
            </a:endParaRPr>
          </a:p>
          <a:p>
            <a:pPr algn="just"/>
            <a:r>
              <a:rPr lang="en-US" dirty="0">
                <a:solidFill>
                  <a:srgbClr val="000000"/>
                </a:solidFill>
                <a:latin typeface="Arial" panose="020B0604020202020204" pitchFamily="34" charset="0"/>
              </a:rPr>
              <a:t>These two bridges can be used to measure capacitance and frequency respectively.</a:t>
            </a:r>
          </a:p>
          <a:p>
            <a:pPr algn="just"/>
            <a:endParaRPr lang="en-US" dirty="0">
              <a:solidFill>
                <a:srgbClr val="000000"/>
              </a:solidFill>
              <a:latin typeface="Arial" panose="020B0604020202020204" pitchFamily="34" charset="0"/>
            </a:endParaRPr>
          </a:p>
          <a:p>
            <a:r>
              <a:rPr lang="en-US" sz="2800" b="1" i="1" u="sng" dirty="0">
                <a:effectLst>
                  <a:outerShdw blurRad="38100" dist="38100" dir="2700000" algn="tl">
                    <a:srgbClr val="000000">
                      <a:alpha val="43137"/>
                    </a:srgbClr>
                  </a:outerShdw>
                </a:effectLst>
                <a:highlight>
                  <a:srgbClr val="808080"/>
                </a:highlight>
                <a:latin typeface="Arial" panose="020B0604020202020204" pitchFamily="34" charset="0"/>
              </a:rPr>
              <a:t>Schering Bridge:-</a:t>
            </a:r>
          </a:p>
          <a:p>
            <a:pPr algn="just"/>
            <a:r>
              <a:rPr lang="en-US" dirty="0">
                <a:solidFill>
                  <a:srgbClr val="000000"/>
                </a:solidFill>
                <a:latin typeface="Arial" panose="020B0604020202020204" pitchFamily="34" charset="0"/>
              </a:rPr>
              <a:t>Schering bridge is an AC bridge having four arms, which are connected in the form of a rhombus or </a:t>
            </a:r>
            <a:r>
              <a:rPr lang="en-US" b="1" dirty="0">
                <a:solidFill>
                  <a:srgbClr val="000000"/>
                </a:solidFill>
                <a:latin typeface="Arial" panose="020B0604020202020204" pitchFamily="34" charset="0"/>
              </a:rPr>
              <a:t>square shape</a:t>
            </a:r>
            <a:r>
              <a:rPr lang="en-US" dirty="0">
                <a:solidFill>
                  <a:srgbClr val="000000"/>
                </a:solidFill>
                <a:latin typeface="Arial" panose="020B0604020202020204" pitchFamily="34" charset="0"/>
              </a:rPr>
              <a:t>, whose one arm consists of a single resistor, one arm consists of a series combination of resistor and capacitor, one arm consists of a single capacitor &amp; the other arm consists of a parallel combination of resistor and capacitor.</a:t>
            </a:r>
          </a:p>
          <a:p>
            <a:pPr algn="just"/>
            <a:endParaRPr lang="en-US" dirty="0">
              <a:solidFill>
                <a:srgbClr val="000000"/>
              </a:solidFill>
              <a:latin typeface="Arial" panose="020B0604020202020204" pitchFamily="34" charset="0"/>
            </a:endParaRPr>
          </a:p>
          <a:p>
            <a:pPr algn="just"/>
            <a:endParaRPr lang="en-US" dirty="0">
              <a:solidFill>
                <a:srgbClr val="000000"/>
              </a:solidFill>
              <a:latin typeface="Arial" panose="020B0604020202020204" pitchFamily="34" charset="0"/>
            </a:endParaRPr>
          </a:p>
          <a:p>
            <a:pPr algn="just"/>
            <a:r>
              <a:rPr lang="en-US" dirty="0">
                <a:solidFill>
                  <a:srgbClr val="000000"/>
                </a:solidFill>
                <a:latin typeface="Arial" panose="020B0604020202020204" pitchFamily="34" charset="0"/>
              </a:rPr>
              <a:t>The AC detector and AC voltage source are also used to find the value of unknown impedance, hence one of them is placed in one diagonal of Schering bridge and the other one is placed in other diagonal of Schering bridge.</a:t>
            </a:r>
          </a:p>
          <a:p>
            <a:pPr algn="just"/>
            <a:endParaRPr lang="en-US" dirty="0">
              <a:solidFill>
                <a:srgbClr val="000000"/>
              </a:solidFill>
              <a:latin typeface="Arial" panose="020B0604020202020204" pitchFamily="34" charset="0"/>
            </a:endParaRPr>
          </a:p>
          <a:p>
            <a:pPr algn="just"/>
            <a:endParaRPr lang="en-US" dirty="0">
              <a:solidFill>
                <a:srgbClr val="000000"/>
              </a:solidFill>
              <a:latin typeface="Arial" panose="020B0604020202020204" pitchFamily="34" charset="0"/>
            </a:endParaRPr>
          </a:p>
          <a:p>
            <a:pPr algn="just"/>
            <a:r>
              <a:rPr lang="en-US" dirty="0">
                <a:solidFill>
                  <a:srgbClr val="000000"/>
                </a:solidFill>
                <a:latin typeface="Arial" panose="020B0604020202020204" pitchFamily="34" charset="0"/>
              </a:rPr>
              <a:t>Schering bridge is used to measure the value of capacitance. The </a:t>
            </a:r>
            <a:r>
              <a:rPr lang="en-US" b="1" dirty="0">
                <a:solidFill>
                  <a:srgbClr val="000000"/>
                </a:solidFill>
                <a:latin typeface="Arial" panose="020B0604020202020204" pitchFamily="34" charset="0"/>
              </a:rPr>
              <a:t>circuit diagram</a:t>
            </a:r>
            <a:r>
              <a:rPr lang="en-US" dirty="0">
                <a:solidFill>
                  <a:srgbClr val="000000"/>
                </a:solidFill>
                <a:latin typeface="Arial" panose="020B0604020202020204" pitchFamily="34" charset="0"/>
              </a:rPr>
              <a:t> of Schering bridge is shown in the below figure.</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1172888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7B95E9-F96C-4A72-A2B6-D9C2951ABC56}"/>
              </a:ext>
            </a:extLst>
          </p:cNvPr>
          <p:cNvPicPr>
            <a:picLocks noChangeAspect="1"/>
          </p:cNvPicPr>
          <p:nvPr/>
        </p:nvPicPr>
        <p:blipFill>
          <a:blip r:embed="rId2"/>
          <a:stretch>
            <a:fillRect/>
          </a:stretch>
        </p:blipFill>
        <p:spPr>
          <a:xfrm>
            <a:off x="3714750" y="18661"/>
            <a:ext cx="4762500" cy="4441372"/>
          </a:xfrm>
          <a:prstGeom prst="rect">
            <a:avLst/>
          </a:prstGeom>
        </p:spPr>
      </p:pic>
      <p:sp>
        <p:nvSpPr>
          <p:cNvPr id="3" name="Rectangle 2">
            <a:extLst>
              <a:ext uri="{FF2B5EF4-FFF2-40B4-BE49-F238E27FC236}">
                <a16:creationId xmlns:a16="http://schemas.microsoft.com/office/drawing/2014/main" id="{9546F2B0-BD6A-4205-BA20-DA9B41626649}"/>
              </a:ext>
            </a:extLst>
          </p:cNvPr>
          <p:cNvSpPr/>
          <p:nvPr/>
        </p:nvSpPr>
        <p:spPr>
          <a:xfrm>
            <a:off x="0" y="4413380"/>
            <a:ext cx="12120465" cy="369332"/>
          </a:xfrm>
          <a:prstGeom prst="rect">
            <a:avLst/>
          </a:prstGeom>
        </p:spPr>
        <p:txBody>
          <a:bodyPr wrap="square">
            <a:spAutoFit/>
          </a:bodyPr>
          <a:lstStyle/>
          <a:p>
            <a:r>
              <a:rPr lang="en-US" dirty="0">
                <a:solidFill>
                  <a:srgbClr val="000000"/>
                </a:solidFill>
                <a:latin typeface="Arial" panose="020B0604020202020204" pitchFamily="34" charset="0"/>
              </a:rPr>
              <a:t>the arms AB, BC, CD and DA together form a rhombus or </a:t>
            </a:r>
            <a:r>
              <a:rPr lang="en-US" b="1" dirty="0">
                <a:solidFill>
                  <a:srgbClr val="000000"/>
                </a:solidFill>
                <a:latin typeface="Arial" panose="020B0604020202020204" pitchFamily="34" charset="0"/>
              </a:rPr>
              <a:t>square shape</a:t>
            </a:r>
            <a:r>
              <a:rPr lang="en-US" dirty="0">
                <a:solidFill>
                  <a:srgbClr val="000000"/>
                </a:solidFill>
                <a:latin typeface="Arial" panose="020B0604020202020204" pitchFamily="34" charset="0"/>
              </a:rPr>
              <a:t>.</a:t>
            </a:r>
            <a:endParaRPr lang="en-IN" dirty="0"/>
          </a:p>
        </p:txBody>
      </p:sp>
      <p:sp>
        <p:nvSpPr>
          <p:cNvPr id="4" name="Rectangle 1">
            <a:extLst>
              <a:ext uri="{FF2B5EF4-FFF2-40B4-BE49-F238E27FC236}">
                <a16:creationId xmlns:a16="http://schemas.microsoft.com/office/drawing/2014/main" id="{7B2ADA73-5815-4D2A-99C3-F608785DAAC0}"/>
              </a:ext>
            </a:extLst>
          </p:cNvPr>
          <p:cNvSpPr>
            <a:spLocks noChangeArrowheads="1"/>
          </p:cNvSpPr>
          <p:nvPr/>
        </p:nvSpPr>
        <p:spPr bwMode="auto">
          <a:xfrm>
            <a:off x="74646" y="4662216"/>
            <a:ext cx="1188720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The arm AB consists of a resistor, R2. The arm BC consists of a series combination of resistor, R4 and capacitor, C4. </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The arm CD consists of a capacitor, C3.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dirty="0">
              <a:solidFill>
                <a:srgbClr val="000000"/>
              </a:solidFill>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The arm DA consists of a parallel combination of resistor, R1 and capacitor, C1.</a:t>
            </a:r>
            <a:r>
              <a:rPr kumimoji="0" lang="en-US" altLang="en-US" b="0" i="0" u="none" strike="noStrike" cap="none" normalizeH="0" baseline="0" dirty="0">
                <a:ln>
                  <a:noFill/>
                </a:ln>
                <a:solidFill>
                  <a:schemeClr val="tx1"/>
                </a:solidFill>
                <a:effectLst/>
              </a:rPr>
              <a:t> </a:t>
            </a:r>
          </a:p>
        </p:txBody>
      </p:sp>
    </p:spTree>
    <p:extLst>
      <p:ext uri="{BB962C8B-B14F-4D97-AF65-F5344CB8AC3E}">
        <p14:creationId xmlns:p14="http://schemas.microsoft.com/office/powerpoint/2010/main" val="74222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23F5A4-EF11-4D57-87DB-3BD38C118F4A}"/>
              </a:ext>
            </a:extLst>
          </p:cNvPr>
          <p:cNvSpPr>
            <a:spLocks noChangeArrowheads="1"/>
          </p:cNvSpPr>
          <p:nvPr/>
        </p:nvSpPr>
        <p:spPr bwMode="auto">
          <a:xfrm>
            <a:off x="149290" y="-6088"/>
            <a:ext cx="11849878" cy="9541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Let, Z1, Z2,Z3 and Z4 are the impedances of arms DA, AB, CD and BC respectively. The </a:t>
            </a:r>
            <a:r>
              <a:rPr kumimoji="0" lang="en-US" altLang="en-US" b="1" i="0" u="none" strike="noStrike" cap="none" normalizeH="0" baseline="0" dirty="0">
                <a:ln>
                  <a:noFill/>
                </a:ln>
                <a:solidFill>
                  <a:srgbClr val="000000"/>
                </a:solidFill>
                <a:effectLst/>
                <a:cs typeface="Arial" panose="020B0604020202020204" pitchFamily="34" charset="0"/>
              </a:rPr>
              <a:t>values of these impedances</a:t>
            </a:r>
            <a:r>
              <a:rPr kumimoji="0" lang="en-US" altLang="en-US" b="0" i="0" u="none" strike="noStrike" cap="none" normalizeH="0" baseline="0" dirty="0">
                <a:ln>
                  <a:noFill/>
                </a:ln>
                <a:solidFill>
                  <a:srgbClr val="000000"/>
                </a:solidFill>
                <a:effectLst/>
                <a:cs typeface="Arial" panose="020B0604020202020204" pitchFamily="34" charset="0"/>
              </a:rPr>
              <a:t> will be</a:t>
            </a:r>
            <a:r>
              <a:rPr kumimoji="0" lang="en-US" altLang="en-US" b="0" i="0" u="none" strike="noStrike" cap="none" normalizeH="0" baseline="0" dirty="0">
                <a:ln>
                  <a:noFill/>
                </a:ln>
                <a:solidFill>
                  <a:schemeClr val="tx1"/>
                </a:solidFill>
                <a:effectLst/>
              </a:rPr>
              <a:t> </a:t>
            </a:r>
          </a:p>
          <a:p>
            <a:pPr lvl="0" algn="just"/>
            <a:r>
              <a:rPr lang="en-IN" dirty="0">
                <a:solidFill>
                  <a:srgbClr val="000000"/>
                </a:solidFill>
                <a:latin typeface="MathJax_Math-italic"/>
              </a:rPr>
              <a:t>                                                                                   Z</a:t>
            </a:r>
            <a:r>
              <a:rPr lang="en-IN" dirty="0">
                <a:solidFill>
                  <a:srgbClr val="000000"/>
                </a:solidFill>
                <a:latin typeface="MathJax_Main"/>
              </a:rPr>
              <a:t>1</a:t>
            </a:r>
            <a:r>
              <a:rPr lang="en-US" altLang="en-US" dirty="0" err="1">
                <a:solidFill>
                  <a:srgbClr val="000000"/>
                </a:solidFill>
                <a:latin typeface="MathJax_Math-italic"/>
                <a:cs typeface="Arial" panose="020B0604020202020204" pitchFamily="34" charset="0"/>
              </a:rPr>
              <a:t>Z</a:t>
            </a:r>
            <a:r>
              <a:rPr lang="en-US" altLang="en-US" dirty="0" err="1">
                <a:solidFill>
                  <a:srgbClr val="000000"/>
                </a:solidFill>
                <a:latin typeface="MathJax_Main"/>
                <a:cs typeface="Arial" panose="020B0604020202020204" pitchFamily="34" charset="0"/>
              </a:rPr>
              <a:t>x</a:t>
            </a:r>
            <a:r>
              <a:rPr lang="en-US" altLang="en-US" dirty="0">
                <a:solidFill>
                  <a:srgbClr val="000000"/>
                </a:solidFill>
                <a:latin typeface="MathJax_Main"/>
                <a:cs typeface="Arial" panose="020B0604020202020204" pitchFamily="34" charset="0"/>
              </a:rPr>
              <a:t>=</a:t>
            </a:r>
            <a:r>
              <a:rPr lang="en-US" altLang="en-US" dirty="0">
                <a:solidFill>
                  <a:srgbClr val="000000"/>
                </a:solidFill>
                <a:latin typeface="MathJax_Math-italic"/>
                <a:cs typeface="Arial" panose="020B0604020202020204" pitchFamily="34" charset="0"/>
              </a:rPr>
              <a:t> Z</a:t>
            </a:r>
            <a:r>
              <a:rPr lang="en-US" altLang="en-US" sz="1050" dirty="0">
                <a:solidFill>
                  <a:srgbClr val="000000"/>
                </a:solidFill>
                <a:latin typeface="MathJax_Main"/>
                <a:cs typeface="Arial" panose="020B0604020202020204" pitchFamily="34" charset="0"/>
              </a:rPr>
              <a:t>2</a:t>
            </a:r>
            <a:r>
              <a:rPr lang="en-US" altLang="en-US" dirty="0">
                <a:solidFill>
                  <a:srgbClr val="000000"/>
                </a:solidFill>
                <a:cs typeface="Arial" panose="020B0604020202020204" pitchFamily="34" charset="0"/>
              </a:rPr>
              <a:t>Z3</a:t>
            </a:r>
            <a:endParaRPr kumimoji="0" lang="en-US" altLang="en-US"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BDB699BF-DCE6-4A64-B8D3-817D79802C11}"/>
              </a:ext>
            </a:extLst>
          </p:cNvPr>
          <p:cNvSpPr/>
          <p:nvPr/>
        </p:nvSpPr>
        <p:spPr>
          <a:xfrm>
            <a:off x="2220686" y="803461"/>
            <a:ext cx="6923314" cy="7848302"/>
          </a:xfrm>
          <a:prstGeom prst="rect">
            <a:avLst/>
          </a:prstGeom>
        </p:spPr>
        <p:txBody>
          <a:bodyPr wrap="square">
            <a:spAutoFit/>
          </a:bodyPr>
          <a:lstStyle/>
          <a:p>
            <a:r>
              <a:rPr lang="en-IN" dirty="0">
                <a:solidFill>
                  <a:srgbClr val="000000"/>
                </a:solidFill>
                <a:latin typeface="MathJax_Math-italic"/>
              </a:rPr>
              <a:t> </a:t>
            </a:r>
          </a:p>
          <a:p>
            <a:r>
              <a:rPr lang="en-US" altLang="en-US" dirty="0">
                <a:solidFill>
                  <a:srgbClr val="000000"/>
                </a:solidFill>
                <a:latin typeface="Arial" panose="020B0604020202020204" pitchFamily="34" charset="0"/>
                <a:cs typeface="Arial" panose="020B0604020202020204" pitchFamily="34" charset="0"/>
              </a:rPr>
              <a:t>                            </a:t>
            </a:r>
            <a:r>
              <a:rPr lang="en-US" altLang="en-US" dirty="0" err="1">
                <a:solidFill>
                  <a:srgbClr val="000000"/>
                </a:solidFill>
                <a:latin typeface="Arial" panose="020B0604020202020204" pitchFamily="34" charset="0"/>
                <a:cs typeface="Arial" panose="020B0604020202020204" pitchFamily="34" charset="0"/>
              </a:rPr>
              <a:t>Zx</a:t>
            </a:r>
            <a:r>
              <a:rPr lang="en-US" altLang="en-US" dirty="0">
                <a:solidFill>
                  <a:srgbClr val="000000"/>
                </a:solidFill>
                <a:latin typeface="Arial" panose="020B0604020202020204" pitchFamily="34" charset="0"/>
                <a:cs typeface="Arial" panose="020B0604020202020204" pitchFamily="34" charset="0"/>
              </a:rPr>
              <a:t>=</a:t>
            </a:r>
            <a:r>
              <a:rPr lang="en-IN" dirty="0">
                <a:solidFill>
                  <a:srgbClr val="000000"/>
                </a:solidFill>
                <a:latin typeface="MathJax_Math-italic"/>
              </a:rPr>
              <a:t> </a:t>
            </a:r>
            <a:r>
              <a:rPr lang="en-US" altLang="en-US" dirty="0">
                <a:solidFill>
                  <a:srgbClr val="000000"/>
                </a:solidFill>
                <a:latin typeface="MathJax_Math-italic"/>
                <a:cs typeface="Arial" panose="020B0604020202020204" pitchFamily="34" charset="0"/>
              </a:rPr>
              <a:t>Z</a:t>
            </a:r>
            <a:r>
              <a:rPr lang="en-US" altLang="en-US" sz="1050" dirty="0">
                <a:solidFill>
                  <a:srgbClr val="000000"/>
                </a:solidFill>
                <a:latin typeface="MathJax_Main"/>
                <a:cs typeface="Arial" panose="020B0604020202020204" pitchFamily="34" charset="0"/>
              </a:rPr>
              <a:t>2</a:t>
            </a:r>
            <a:r>
              <a:rPr lang="en-US" altLang="en-US" dirty="0">
                <a:solidFill>
                  <a:srgbClr val="000000"/>
                </a:solidFill>
                <a:cs typeface="Arial" panose="020B0604020202020204" pitchFamily="34" charset="0"/>
              </a:rPr>
              <a:t>Z3/</a:t>
            </a:r>
            <a:r>
              <a:rPr lang="en-IN" dirty="0">
                <a:solidFill>
                  <a:srgbClr val="000000"/>
                </a:solidFill>
                <a:latin typeface="MathJax_Math-italic"/>
              </a:rPr>
              <a:t> Z</a:t>
            </a:r>
            <a:r>
              <a:rPr lang="en-IN" dirty="0">
                <a:solidFill>
                  <a:srgbClr val="000000"/>
                </a:solidFill>
                <a:latin typeface="MathJax_Main"/>
              </a:rPr>
              <a:t>1, </a:t>
            </a:r>
            <a:r>
              <a:rPr lang="en-US" altLang="en-US" dirty="0" err="1">
                <a:solidFill>
                  <a:srgbClr val="000000"/>
                </a:solidFill>
                <a:latin typeface="Arial" panose="020B0604020202020204" pitchFamily="34" charset="0"/>
                <a:cs typeface="Arial" panose="020B0604020202020204" pitchFamily="34" charset="0"/>
              </a:rPr>
              <a:t>Zx</a:t>
            </a:r>
            <a:r>
              <a:rPr lang="en-US" altLang="en-US" dirty="0">
                <a:solidFill>
                  <a:srgbClr val="000000"/>
                </a:solidFill>
                <a:latin typeface="Arial" panose="020B0604020202020204" pitchFamily="34" charset="0"/>
                <a:cs typeface="Arial" panose="020B0604020202020204" pitchFamily="34" charset="0"/>
              </a:rPr>
              <a:t>=</a:t>
            </a:r>
            <a:r>
              <a:rPr lang="en-US" altLang="en-US" dirty="0">
                <a:solidFill>
                  <a:srgbClr val="000000"/>
                </a:solidFill>
                <a:latin typeface="MathJax_Math-italic"/>
                <a:cs typeface="Arial" panose="020B0604020202020204" pitchFamily="34" charset="0"/>
              </a:rPr>
              <a:t> Z</a:t>
            </a:r>
            <a:r>
              <a:rPr lang="en-US" altLang="en-US" sz="1050" dirty="0">
                <a:solidFill>
                  <a:srgbClr val="000000"/>
                </a:solidFill>
                <a:latin typeface="MathJax_Main"/>
                <a:cs typeface="Arial" panose="020B0604020202020204" pitchFamily="34" charset="0"/>
              </a:rPr>
              <a:t>2</a:t>
            </a:r>
            <a:r>
              <a:rPr lang="en-US" altLang="en-US" dirty="0">
                <a:solidFill>
                  <a:srgbClr val="000000"/>
                </a:solidFill>
                <a:cs typeface="Arial" panose="020B0604020202020204" pitchFamily="34" charset="0"/>
              </a:rPr>
              <a:t>Z3Y1</a:t>
            </a:r>
          </a:p>
          <a:p>
            <a:endParaRPr lang="en-IN" dirty="0">
              <a:solidFill>
                <a:srgbClr val="000000"/>
              </a:solidFill>
              <a:latin typeface="MathJax_Math-italic"/>
            </a:endParaRPr>
          </a:p>
          <a:p>
            <a:r>
              <a:rPr lang="en-US" altLang="en-US" dirty="0">
                <a:solidFill>
                  <a:srgbClr val="000000"/>
                </a:solidFill>
                <a:latin typeface="Arial" panose="020B0604020202020204" pitchFamily="34" charset="0"/>
                <a:cs typeface="Arial" panose="020B0604020202020204" pitchFamily="34" charset="0"/>
              </a:rPr>
              <a:t>                               </a:t>
            </a:r>
            <a:r>
              <a:rPr lang="en-US" altLang="en-US" dirty="0" err="1">
                <a:solidFill>
                  <a:srgbClr val="000000"/>
                </a:solidFill>
                <a:latin typeface="Arial" panose="020B0604020202020204" pitchFamily="34" charset="0"/>
                <a:cs typeface="Arial" panose="020B0604020202020204" pitchFamily="34" charset="0"/>
              </a:rPr>
              <a:t>Zx</a:t>
            </a:r>
            <a:r>
              <a:rPr lang="en-US" altLang="en-US" dirty="0">
                <a:solidFill>
                  <a:srgbClr val="000000"/>
                </a:solidFill>
                <a:latin typeface="Arial" panose="020B0604020202020204" pitchFamily="34" charset="0"/>
                <a:cs typeface="Arial" panose="020B0604020202020204" pitchFamily="34" charset="0"/>
              </a:rPr>
              <a:t>=</a:t>
            </a:r>
            <a:r>
              <a:rPr lang="en-IN" b="1" dirty="0">
                <a:solidFill>
                  <a:srgbClr val="666666"/>
                </a:solidFill>
                <a:latin typeface="inherit"/>
              </a:rPr>
              <a:t> Rx+1/j</a:t>
            </a:r>
            <a:r>
              <a:rPr lang="el-GR" b="1" dirty="0">
                <a:solidFill>
                  <a:srgbClr val="666666"/>
                </a:solidFill>
                <a:latin typeface="inherit"/>
              </a:rPr>
              <a:t>ω</a:t>
            </a:r>
            <a:r>
              <a:rPr lang="en-IN" b="1" dirty="0" err="1">
                <a:solidFill>
                  <a:srgbClr val="666666"/>
                </a:solidFill>
                <a:latin typeface="inherit"/>
              </a:rPr>
              <a:t>Cx</a:t>
            </a:r>
            <a:endParaRPr lang="en-IN" b="1" dirty="0">
              <a:solidFill>
                <a:srgbClr val="666666"/>
              </a:solidFill>
              <a:latin typeface="inherit"/>
            </a:endParaRPr>
          </a:p>
          <a:p>
            <a:r>
              <a:rPr lang="en-IN" b="1" dirty="0">
                <a:solidFill>
                  <a:srgbClr val="666666"/>
                </a:solidFill>
                <a:latin typeface="inherit"/>
              </a:rPr>
              <a:t> </a:t>
            </a:r>
            <a:endParaRPr lang="en-IN" dirty="0">
              <a:solidFill>
                <a:srgbClr val="000000"/>
              </a:solidFill>
              <a:latin typeface="MathJax_Math-italic"/>
            </a:endParaRPr>
          </a:p>
          <a:p>
            <a:r>
              <a:rPr lang="en-IN" dirty="0">
                <a:solidFill>
                  <a:srgbClr val="000000"/>
                </a:solidFill>
                <a:latin typeface="MathJax_Math-italic"/>
              </a:rPr>
              <a:t>                                    </a:t>
            </a:r>
            <a:r>
              <a:rPr lang="en-IN" dirty="0" err="1">
                <a:solidFill>
                  <a:srgbClr val="000000"/>
                </a:solidFill>
                <a:latin typeface="MathJax_Math-italic"/>
              </a:rPr>
              <a:t>Z</a:t>
            </a:r>
            <a:r>
              <a:rPr lang="en-IN" dirty="0" err="1">
                <a:solidFill>
                  <a:srgbClr val="000000"/>
                </a:solidFill>
                <a:latin typeface="MathJax_Main"/>
              </a:rPr>
              <a:t>x</a:t>
            </a:r>
            <a:r>
              <a:rPr lang="en-IN" dirty="0">
                <a:solidFill>
                  <a:srgbClr val="000000"/>
                </a:solidFill>
                <a:latin typeface="MathJax_Main"/>
              </a:rPr>
              <a:t>=</a:t>
            </a:r>
            <a:r>
              <a:rPr lang="en-IN" b="1" dirty="0">
                <a:solidFill>
                  <a:srgbClr val="666666"/>
                </a:solidFill>
                <a:latin typeface="inherit"/>
              </a:rPr>
              <a:t> Rx-j/</a:t>
            </a:r>
            <a:r>
              <a:rPr lang="el-GR" b="1" dirty="0">
                <a:solidFill>
                  <a:srgbClr val="666666"/>
                </a:solidFill>
                <a:latin typeface="inherit"/>
              </a:rPr>
              <a:t>ω</a:t>
            </a:r>
            <a:r>
              <a:rPr lang="en-IN" b="1" dirty="0" err="1">
                <a:solidFill>
                  <a:srgbClr val="666666"/>
                </a:solidFill>
                <a:latin typeface="inherit"/>
              </a:rPr>
              <a:t>Cx</a:t>
            </a:r>
            <a:endParaRPr lang="en-IN" b="1" dirty="0">
              <a:solidFill>
                <a:srgbClr val="666666"/>
              </a:solidFill>
              <a:latin typeface="inherit"/>
            </a:endParaRPr>
          </a:p>
          <a:p>
            <a:endParaRPr lang="en-IN" b="1" dirty="0">
              <a:solidFill>
                <a:srgbClr val="666666"/>
              </a:solidFill>
              <a:latin typeface="inherit"/>
            </a:endParaRPr>
          </a:p>
          <a:p>
            <a:r>
              <a:rPr lang="en-IN" b="1" dirty="0">
                <a:solidFill>
                  <a:srgbClr val="666666"/>
                </a:solidFill>
                <a:latin typeface="inherit"/>
              </a:rPr>
              <a:t>                                        Z2 = R2</a:t>
            </a:r>
          </a:p>
          <a:p>
            <a:endParaRPr lang="en-IN" b="1" dirty="0">
              <a:solidFill>
                <a:srgbClr val="666666"/>
              </a:solidFill>
              <a:latin typeface="inherit"/>
            </a:endParaRPr>
          </a:p>
          <a:p>
            <a:r>
              <a:rPr lang="en-IN" b="1" dirty="0">
                <a:solidFill>
                  <a:srgbClr val="666666"/>
                </a:solidFill>
                <a:latin typeface="inherit"/>
              </a:rPr>
              <a:t>                                        Z3= 1/j</a:t>
            </a:r>
            <a:r>
              <a:rPr lang="el-GR" b="1" dirty="0">
                <a:solidFill>
                  <a:srgbClr val="666666"/>
                </a:solidFill>
                <a:latin typeface="inherit"/>
              </a:rPr>
              <a:t>ω</a:t>
            </a:r>
            <a:r>
              <a:rPr lang="en-IN" b="1" dirty="0">
                <a:solidFill>
                  <a:srgbClr val="666666"/>
                </a:solidFill>
                <a:latin typeface="inherit"/>
              </a:rPr>
              <a:t>C3= -j/</a:t>
            </a:r>
            <a:r>
              <a:rPr lang="el-GR" b="1" dirty="0">
                <a:solidFill>
                  <a:srgbClr val="666666"/>
                </a:solidFill>
                <a:latin typeface="inherit"/>
              </a:rPr>
              <a:t>ω</a:t>
            </a:r>
            <a:r>
              <a:rPr lang="en-IN" b="1" dirty="0">
                <a:solidFill>
                  <a:srgbClr val="666666"/>
                </a:solidFill>
                <a:latin typeface="inherit"/>
              </a:rPr>
              <a:t>c3</a:t>
            </a:r>
          </a:p>
          <a:p>
            <a:endParaRPr lang="en-IN" b="1" dirty="0">
              <a:solidFill>
                <a:srgbClr val="666666"/>
              </a:solidFill>
              <a:latin typeface="inherit"/>
            </a:endParaRPr>
          </a:p>
          <a:p>
            <a:r>
              <a:rPr lang="en-IN" b="1" dirty="0">
                <a:solidFill>
                  <a:srgbClr val="666666"/>
                </a:solidFill>
                <a:latin typeface="inherit"/>
              </a:rPr>
              <a:t>                                       Y1 = 1/R1 + j </a:t>
            </a:r>
            <a:r>
              <a:rPr lang="el-GR" b="1" dirty="0">
                <a:solidFill>
                  <a:srgbClr val="666666"/>
                </a:solidFill>
                <a:latin typeface="inherit"/>
              </a:rPr>
              <a:t>ω</a:t>
            </a:r>
            <a:r>
              <a:rPr lang="en-IN" b="1" dirty="0">
                <a:solidFill>
                  <a:srgbClr val="666666"/>
                </a:solidFill>
                <a:latin typeface="inherit"/>
              </a:rPr>
              <a:t>C1</a:t>
            </a:r>
          </a:p>
          <a:p>
            <a:endParaRPr lang="en-IN" b="1" dirty="0">
              <a:solidFill>
                <a:srgbClr val="666666"/>
              </a:solidFill>
              <a:latin typeface="inherit"/>
            </a:endParaRPr>
          </a:p>
          <a:p>
            <a:r>
              <a:rPr lang="en-IN" b="1" dirty="0">
                <a:solidFill>
                  <a:srgbClr val="666666"/>
                </a:solidFill>
                <a:latin typeface="inherit"/>
              </a:rPr>
              <a:t>                            (Rx-j/</a:t>
            </a:r>
            <a:r>
              <a:rPr lang="el-GR" b="1" dirty="0">
                <a:solidFill>
                  <a:srgbClr val="666666"/>
                </a:solidFill>
                <a:latin typeface="inherit"/>
              </a:rPr>
              <a:t>ω</a:t>
            </a:r>
            <a:r>
              <a:rPr lang="en-IN" b="1" dirty="0" err="1">
                <a:solidFill>
                  <a:srgbClr val="666666"/>
                </a:solidFill>
                <a:latin typeface="inherit"/>
              </a:rPr>
              <a:t>Cx</a:t>
            </a:r>
            <a:r>
              <a:rPr lang="en-IN" b="1" dirty="0">
                <a:solidFill>
                  <a:srgbClr val="666666"/>
                </a:solidFill>
                <a:latin typeface="inherit"/>
              </a:rPr>
              <a:t>)= R2(-j/</a:t>
            </a:r>
            <a:r>
              <a:rPr lang="el-GR" b="1" dirty="0">
                <a:solidFill>
                  <a:srgbClr val="666666"/>
                </a:solidFill>
                <a:latin typeface="inherit"/>
              </a:rPr>
              <a:t>ω</a:t>
            </a:r>
            <a:r>
              <a:rPr lang="en-IN" b="1" dirty="0">
                <a:solidFill>
                  <a:srgbClr val="666666"/>
                </a:solidFill>
                <a:latin typeface="inherit"/>
              </a:rPr>
              <a:t>C3)(1/R1 + j </a:t>
            </a:r>
            <a:r>
              <a:rPr lang="el-GR" b="1" dirty="0">
                <a:solidFill>
                  <a:srgbClr val="666666"/>
                </a:solidFill>
                <a:latin typeface="inherit"/>
              </a:rPr>
              <a:t>ω</a:t>
            </a:r>
            <a:r>
              <a:rPr lang="en-IN" b="1" dirty="0">
                <a:solidFill>
                  <a:srgbClr val="666666"/>
                </a:solidFill>
                <a:latin typeface="inherit"/>
              </a:rPr>
              <a:t>C1)</a:t>
            </a:r>
          </a:p>
          <a:p>
            <a:endParaRPr lang="en-IN" b="1" dirty="0">
              <a:solidFill>
                <a:srgbClr val="666666"/>
              </a:solidFill>
              <a:latin typeface="inherit"/>
            </a:endParaRPr>
          </a:p>
          <a:p>
            <a:r>
              <a:rPr lang="en-IN" b="1" dirty="0">
                <a:solidFill>
                  <a:srgbClr val="666666"/>
                </a:solidFill>
                <a:latin typeface="inherit"/>
              </a:rPr>
              <a:t>                                = -R2j/</a:t>
            </a:r>
            <a:r>
              <a:rPr lang="el-GR" b="1" dirty="0">
                <a:solidFill>
                  <a:srgbClr val="666666"/>
                </a:solidFill>
                <a:latin typeface="inherit"/>
              </a:rPr>
              <a:t>ω</a:t>
            </a:r>
            <a:r>
              <a:rPr lang="en-IN" b="1" dirty="0">
                <a:solidFill>
                  <a:srgbClr val="666666"/>
                </a:solidFill>
                <a:latin typeface="inherit"/>
              </a:rPr>
              <a:t>C3 R1+ R2</a:t>
            </a:r>
            <a:r>
              <a:rPr lang="el-GR" b="1" dirty="0">
                <a:solidFill>
                  <a:srgbClr val="666666"/>
                </a:solidFill>
                <a:latin typeface="inherit"/>
              </a:rPr>
              <a:t> ω</a:t>
            </a:r>
            <a:r>
              <a:rPr lang="en-IN" b="1" dirty="0">
                <a:solidFill>
                  <a:srgbClr val="666666"/>
                </a:solidFill>
                <a:latin typeface="inherit"/>
              </a:rPr>
              <a:t>C1/</a:t>
            </a:r>
            <a:r>
              <a:rPr lang="el-GR" b="1" dirty="0">
                <a:solidFill>
                  <a:srgbClr val="666666"/>
                </a:solidFill>
                <a:latin typeface="inherit"/>
              </a:rPr>
              <a:t> ω</a:t>
            </a:r>
            <a:r>
              <a:rPr lang="en-IN" b="1" dirty="0">
                <a:solidFill>
                  <a:srgbClr val="666666"/>
                </a:solidFill>
                <a:latin typeface="inherit"/>
              </a:rPr>
              <a:t>C3</a:t>
            </a:r>
          </a:p>
          <a:p>
            <a:endParaRPr lang="en-IN" dirty="0">
              <a:solidFill>
                <a:srgbClr val="000000"/>
              </a:solidFill>
              <a:latin typeface="MathJax_Main"/>
            </a:endParaRPr>
          </a:p>
          <a:p>
            <a:r>
              <a:rPr lang="en-IN" b="1" dirty="0">
                <a:solidFill>
                  <a:srgbClr val="666666"/>
                </a:solidFill>
                <a:latin typeface="inherit"/>
              </a:rPr>
              <a:t>                                    Rx-j/</a:t>
            </a:r>
            <a:r>
              <a:rPr lang="el-GR" b="1" dirty="0">
                <a:solidFill>
                  <a:srgbClr val="666666"/>
                </a:solidFill>
                <a:latin typeface="inherit"/>
              </a:rPr>
              <a:t>ω</a:t>
            </a:r>
            <a:r>
              <a:rPr lang="en-IN" b="1" dirty="0" err="1">
                <a:solidFill>
                  <a:srgbClr val="666666"/>
                </a:solidFill>
                <a:latin typeface="inherit"/>
              </a:rPr>
              <a:t>Cx</a:t>
            </a:r>
            <a:r>
              <a:rPr lang="en-IN" b="1" dirty="0">
                <a:solidFill>
                  <a:srgbClr val="666666"/>
                </a:solidFill>
                <a:latin typeface="inherit"/>
              </a:rPr>
              <a:t> =R2(-j)/R1</a:t>
            </a:r>
            <a:r>
              <a:rPr lang="el-GR" b="1" dirty="0">
                <a:solidFill>
                  <a:srgbClr val="666666"/>
                </a:solidFill>
                <a:latin typeface="inherit"/>
              </a:rPr>
              <a:t> ω</a:t>
            </a:r>
            <a:r>
              <a:rPr lang="en-IN" b="1" dirty="0">
                <a:solidFill>
                  <a:srgbClr val="666666"/>
                </a:solidFill>
                <a:latin typeface="inherit"/>
              </a:rPr>
              <a:t>C3 + R2C1/C3</a:t>
            </a:r>
          </a:p>
          <a:p>
            <a:r>
              <a:rPr lang="en-IN" b="1" dirty="0">
                <a:solidFill>
                  <a:srgbClr val="666666"/>
                </a:solidFill>
                <a:latin typeface="inherit"/>
              </a:rPr>
              <a:t>                                                       (OR)</a:t>
            </a:r>
          </a:p>
          <a:p>
            <a:r>
              <a:rPr lang="en-IN" b="1" dirty="0">
                <a:solidFill>
                  <a:srgbClr val="666666"/>
                </a:solidFill>
                <a:latin typeface="inherit"/>
              </a:rPr>
              <a:t>                                         R2C1/C3-jR2/</a:t>
            </a:r>
            <a:r>
              <a:rPr lang="el-GR" b="1" dirty="0">
                <a:solidFill>
                  <a:srgbClr val="666666"/>
                </a:solidFill>
                <a:latin typeface="inherit"/>
              </a:rPr>
              <a:t> ω</a:t>
            </a:r>
            <a:r>
              <a:rPr lang="en-IN" b="1" dirty="0">
                <a:solidFill>
                  <a:srgbClr val="666666"/>
                </a:solidFill>
                <a:latin typeface="inherit"/>
              </a:rPr>
              <a:t>C3 R1</a:t>
            </a:r>
          </a:p>
          <a:p>
            <a:r>
              <a:rPr lang="en-IN" dirty="0">
                <a:solidFill>
                  <a:srgbClr val="666666"/>
                </a:solidFill>
                <a:latin typeface="Arial" panose="020B0604020202020204" pitchFamily="34" charset="0"/>
              </a:rPr>
              <a:t>Now equate the real and imaginary terms</a:t>
            </a:r>
          </a:p>
          <a:p>
            <a:r>
              <a:rPr lang="en-IN" b="1" dirty="0">
                <a:solidFill>
                  <a:srgbClr val="666666"/>
                </a:solidFill>
                <a:latin typeface="inherit"/>
              </a:rPr>
              <a:t>                               Rx = R2C1/C3 and </a:t>
            </a:r>
            <a:r>
              <a:rPr lang="en-IN" b="1" dirty="0" err="1">
                <a:solidFill>
                  <a:srgbClr val="666666"/>
                </a:solidFill>
                <a:latin typeface="inherit"/>
              </a:rPr>
              <a:t>Cx</a:t>
            </a:r>
            <a:r>
              <a:rPr lang="en-IN" b="1" dirty="0">
                <a:solidFill>
                  <a:srgbClr val="666666"/>
                </a:solidFill>
                <a:latin typeface="inherit"/>
              </a:rPr>
              <a:t> =R1/R2*C3</a:t>
            </a:r>
            <a:endParaRPr lang="en-IN" dirty="0">
              <a:solidFill>
                <a:srgbClr val="666666"/>
              </a:solidFill>
              <a:latin typeface="Arial" panose="020B0604020202020204" pitchFamily="34" charset="0"/>
            </a:endParaRPr>
          </a:p>
          <a:p>
            <a:endParaRPr lang="en-IN" dirty="0">
              <a:solidFill>
                <a:srgbClr val="000000"/>
              </a:solidFill>
              <a:latin typeface="MathJax_Main"/>
            </a:endParaRPr>
          </a:p>
          <a:p>
            <a:endParaRPr lang="en-IN" dirty="0">
              <a:solidFill>
                <a:srgbClr val="000000"/>
              </a:solidFill>
              <a:latin typeface="MathJax_Main"/>
            </a:endParaRPr>
          </a:p>
          <a:p>
            <a:br>
              <a:rPr lang="en-IN" dirty="0"/>
            </a:br>
            <a:endParaRPr lang="en-IN" dirty="0"/>
          </a:p>
          <a:p>
            <a:endParaRPr lang="en-IN" dirty="0"/>
          </a:p>
          <a:p>
            <a:endParaRPr lang="en-IN" dirty="0"/>
          </a:p>
        </p:txBody>
      </p:sp>
      <p:sp>
        <p:nvSpPr>
          <p:cNvPr id="4" name="Rectangle 2">
            <a:extLst>
              <a:ext uri="{FF2B5EF4-FFF2-40B4-BE49-F238E27FC236}">
                <a16:creationId xmlns:a16="http://schemas.microsoft.com/office/drawing/2014/main" id="{298084FA-F0DC-472E-A5B0-749C896380A9}"/>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3">
            <a:extLst>
              <a:ext uri="{FF2B5EF4-FFF2-40B4-BE49-F238E27FC236}">
                <a16:creationId xmlns:a16="http://schemas.microsoft.com/office/drawing/2014/main" id="{8DEBE81F-5722-4AD3-87AB-96918BB3879D}"/>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4">
            <a:extLst>
              <a:ext uri="{FF2B5EF4-FFF2-40B4-BE49-F238E27FC236}">
                <a16:creationId xmlns:a16="http://schemas.microsoft.com/office/drawing/2014/main" id="{0476D501-26E0-4175-954C-5F78F408E92B}"/>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5">
            <a:extLst>
              <a:ext uri="{FF2B5EF4-FFF2-40B4-BE49-F238E27FC236}">
                <a16:creationId xmlns:a16="http://schemas.microsoft.com/office/drawing/2014/main" id="{7EC17F45-4755-4A73-8080-491E2220EA3A}"/>
              </a:ext>
            </a:extLst>
          </p:cNvPr>
          <p:cNvSpPr>
            <a:spLocks noChangeArrowheads="1"/>
          </p:cNvSpPr>
          <p:nvPr/>
        </p:nvSpPr>
        <p:spPr bwMode="auto">
          <a:xfrm>
            <a:off x="0" y="-94565"/>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930333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3192FE-B7A5-4227-B53F-7C161BC59E39}"/>
              </a:ext>
            </a:extLst>
          </p:cNvPr>
          <p:cNvSpPr>
            <a:spLocks noChangeArrowheads="1"/>
          </p:cNvSpPr>
          <p:nvPr/>
        </p:nvSpPr>
        <p:spPr bwMode="auto">
          <a:xfrm>
            <a:off x="345234" y="-8010"/>
            <a:ext cx="11187404"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By </a:t>
            </a:r>
            <a:r>
              <a:rPr kumimoji="0" lang="en-US" altLang="en-US" b="1" i="0" u="none" strike="noStrike" cap="none" normalizeH="0" baseline="0" dirty="0">
                <a:ln>
                  <a:noFill/>
                </a:ln>
                <a:solidFill>
                  <a:srgbClr val="000000"/>
                </a:solidFill>
                <a:effectLst/>
                <a:cs typeface="Arial" panose="020B0604020202020204" pitchFamily="34" charset="0"/>
              </a:rPr>
              <a:t>comparing</a:t>
            </a:r>
            <a:r>
              <a:rPr kumimoji="0" lang="en-US" altLang="en-US" b="0" i="0" u="none" strike="noStrike" cap="none" normalizeH="0" baseline="0" dirty="0">
                <a:ln>
                  <a:noFill/>
                </a:ln>
                <a:solidFill>
                  <a:srgbClr val="000000"/>
                </a:solidFill>
                <a:effectLst/>
                <a:cs typeface="Arial" panose="020B0604020202020204" pitchFamily="34" charset="0"/>
              </a:rPr>
              <a:t> the respective real and imaginary terms of above equation, we will get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athJax_Math-italic"/>
                <a:cs typeface="Arial" panose="020B0604020202020204" pitchFamily="34" charset="0"/>
              </a:rPr>
              <a:t>                                                         </a:t>
            </a:r>
            <a:r>
              <a:rPr kumimoji="0" lang="en-US" altLang="en-US" b="0" i="0" u="none" strike="noStrike" cap="none" normalizeH="0" baseline="0" dirty="0">
                <a:ln>
                  <a:noFill/>
                </a:ln>
                <a:solidFill>
                  <a:srgbClr val="000000"/>
                </a:solidFill>
                <a:effectLst/>
                <a:latin typeface="MathJax_Main"/>
                <a:cs typeface="Arial" panose="020B0604020202020204" pitchFamily="34" charset="0"/>
              </a:rPr>
              <a:t> </a:t>
            </a:r>
            <a:r>
              <a:rPr kumimoji="0" lang="en-US" altLang="en-US" b="0" i="0" u="none" strike="noStrike" cap="none" normalizeH="0" baseline="0" dirty="0">
                <a:ln>
                  <a:noFill/>
                </a:ln>
                <a:solidFill>
                  <a:srgbClr val="000000"/>
                </a:solidFill>
                <a:effectLst/>
                <a:cs typeface="Arial" panose="020B0604020202020204" pitchFamily="34" charset="0"/>
              </a:rPr>
              <a:t>C4=R1C3/R2                                 Equation 1</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MathJax_Math-italic"/>
                <a:cs typeface="Arial" panose="020B0604020202020204" pitchFamily="34" charset="0"/>
              </a:rPr>
              <a:t>                                                         </a:t>
            </a:r>
            <a:r>
              <a:rPr kumimoji="0" lang="en-US" altLang="en-US" b="0" i="0" u="none" strike="noStrike" cap="none" normalizeH="0" baseline="0" dirty="0">
                <a:ln>
                  <a:noFill/>
                </a:ln>
                <a:solidFill>
                  <a:srgbClr val="000000"/>
                </a:solidFill>
                <a:effectLst/>
                <a:latin typeface="MathJax_Main"/>
                <a:cs typeface="Arial" panose="020B0604020202020204" pitchFamily="34" charset="0"/>
              </a:rPr>
              <a:t> </a:t>
            </a:r>
            <a:r>
              <a:rPr kumimoji="0" lang="en-US" altLang="en-US" b="0" i="0" u="none" strike="noStrike" cap="none" normalizeH="0" baseline="0" dirty="0">
                <a:ln>
                  <a:noFill/>
                </a:ln>
                <a:solidFill>
                  <a:srgbClr val="000000"/>
                </a:solidFill>
                <a:effectLst/>
                <a:cs typeface="Arial" panose="020B0604020202020204" pitchFamily="34" charset="0"/>
              </a:rPr>
              <a:t>R4=C1R2/C3                                 Equation 2</a:t>
            </a:r>
            <a:endParaRPr kumimoji="0" lang="en-US" altLang="en-US" b="0" i="0" u="none" strike="noStrike" cap="none" normalizeH="0" baseline="0" dirty="0">
              <a:ln>
                <a:noFill/>
              </a:ln>
              <a:solidFill>
                <a:schemeClr val="tx1"/>
              </a:solidFill>
              <a:effectLst/>
            </a:endParaRPr>
          </a:p>
        </p:txBody>
      </p:sp>
      <p:sp>
        <p:nvSpPr>
          <p:cNvPr id="3" name="Rectangle 2">
            <a:extLst>
              <a:ext uri="{FF2B5EF4-FFF2-40B4-BE49-F238E27FC236}">
                <a16:creationId xmlns:a16="http://schemas.microsoft.com/office/drawing/2014/main" id="{F5E531A4-6B8F-42CB-B9F0-48487B6C5A88}"/>
              </a:ext>
            </a:extLst>
          </p:cNvPr>
          <p:cNvSpPr>
            <a:spLocks noChangeArrowheads="1"/>
          </p:cNvSpPr>
          <p:nvPr/>
        </p:nvSpPr>
        <p:spPr bwMode="auto">
          <a:xfrm>
            <a:off x="447869" y="1363620"/>
            <a:ext cx="114300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By substituting the values of R1,R2 and C3 in Equation 1, we will get the value of capacitor, C4. Similarly, by substituting the values of R2,C1 and C3 in Equation 2, we will get the value of resistor, R4.</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The </a:t>
            </a:r>
            <a:r>
              <a:rPr kumimoji="0" lang="en-US" altLang="en-US" b="1" i="0" u="none" strike="noStrike" cap="none" normalizeH="0" baseline="0" dirty="0">
                <a:ln>
                  <a:noFill/>
                </a:ln>
                <a:solidFill>
                  <a:srgbClr val="000000"/>
                </a:solidFill>
                <a:effectLst/>
                <a:cs typeface="Arial" panose="020B0604020202020204" pitchFamily="34" charset="0"/>
              </a:rPr>
              <a:t>advantage</a:t>
            </a:r>
            <a:r>
              <a:rPr kumimoji="0" lang="en-US" altLang="en-US" b="0" i="0" u="none" strike="noStrike" cap="none" normalizeH="0" baseline="0" dirty="0">
                <a:ln>
                  <a:noFill/>
                </a:ln>
                <a:solidFill>
                  <a:srgbClr val="000000"/>
                </a:solidFill>
                <a:effectLst/>
                <a:cs typeface="Arial" panose="020B0604020202020204" pitchFamily="34" charset="0"/>
              </a:rPr>
              <a:t> of Schering bridge is that both the values of resistor, R4 and capacitor, C4 are independent of the value of frequency.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cs typeface="Arial" panose="020B0604020202020204" pitchFamily="34" charset="0"/>
              </a:rPr>
              <a:t>The dial of capacitor C1 can be calibrated directly to give the dissipation factor at a particular frequency.</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00000"/>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dirty="0">
                <a:solidFill>
                  <a:srgbClr val="000000"/>
                </a:solidFill>
                <a:cs typeface="Arial" panose="020B0604020202020204" pitchFamily="34" charset="0"/>
              </a:rPr>
              <a:t>The dissipation factor ‘D’ of a series RC </a:t>
            </a:r>
            <a:r>
              <a:rPr lang="en-US" altLang="en-US" dirty="0" err="1">
                <a:solidFill>
                  <a:srgbClr val="000000"/>
                </a:solidFill>
                <a:cs typeface="Arial" panose="020B0604020202020204" pitchFamily="34" charset="0"/>
              </a:rPr>
              <a:t>ckt</a:t>
            </a:r>
            <a:r>
              <a:rPr lang="en-US" altLang="en-US" dirty="0">
                <a:solidFill>
                  <a:srgbClr val="000000"/>
                </a:solidFill>
                <a:cs typeface="Arial" panose="020B0604020202020204" pitchFamily="34" charset="0"/>
              </a:rPr>
              <a:t> is defined as the cotangent of phase angle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cs typeface="Arial" panose="020B0604020202020204" pitchFamily="34" charset="0"/>
              </a:rPr>
              <a:t>                                  </a:t>
            </a:r>
          </a:p>
          <a:p>
            <a:pPr lvl="0" algn="just"/>
            <a:r>
              <a:rPr lang="en-US" altLang="en-US" dirty="0">
                <a:solidFill>
                  <a:srgbClr val="000000"/>
                </a:solidFill>
                <a:cs typeface="Arial" panose="020B0604020202020204" pitchFamily="34" charset="0"/>
              </a:rPr>
              <a:t>                                                                       D=Rx/Xx=</a:t>
            </a:r>
            <a:r>
              <a:rPr lang="el-GR" b="1" dirty="0">
                <a:solidFill>
                  <a:srgbClr val="666666"/>
                </a:solidFill>
                <a:latin typeface="inherit"/>
              </a:rPr>
              <a:t> ω</a:t>
            </a:r>
            <a:r>
              <a:rPr lang="en-US" b="1" dirty="0" err="1">
                <a:solidFill>
                  <a:srgbClr val="666666"/>
                </a:solidFill>
                <a:latin typeface="inherit"/>
              </a:rPr>
              <a:t>CxRx</a:t>
            </a:r>
            <a:endParaRPr lang="en-US" b="1" dirty="0">
              <a:solidFill>
                <a:srgbClr val="666666"/>
              </a:solidFill>
              <a:latin typeface="inherit"/>
            </a:endParaRPr>
          </a:p>
          <a:p>
            <a:pPr lvl="0" algn="just"/>
            <a:endParaRPr lang="en-US" b="1" dirty="0">
              <a:solidFill>
                <a:srgbClr val="666666"/>
              </a:solidFill>
              <a:latin typeface="inherit"/>
            </a:endParaRPr>
          </a:p>
          <a:p>
            <a:pPr lvl="0" algn="just"/>
            <a:r>
              <a:rPr kumimoji="0" lang="en-US" altLang="en-US" b="1" i="0" u="none" strike="noStrike" cap="none" normalizeH="0" baseline="0" dirty="0">
                <a:ln>
                  <a:noFill/>
                </a:ln>
                <a:solidFill>
                  <a:srgbClr val="666666"/>
                </a:solidFill>
                <a:effectLst/>
                <a:latin typeface="inherit"/>
              </a:rPr>
              <a:t>Also, D is the reciprocal of the quality factor Q, i.e., D=1/Q. D indicates the quality of the capacitor.</a:t>
            </a:r>
          </a:p>
          <a:p>
            <a:pPr lvl="0" algn="just"/>
            <a:endParaRPr lang="en-US" altLang="en-US" b="1" dirty="0">
              <a:solidFill>
                <a:srgbClr val="666666"/>
              </a:solidFill>
              <a:latin typeface="inherit"/>
            </a:endParaRPr>
          </a:p>
          <a:p>
            <a:pPr lvl="0" algn="just"/>
            <a:r>
              <a:rPr kumimoji="0" lang="en-US" altLang="en-US" b="1" i="0" u="none" strike="noStrike" cap="none" normalizeH="0" baseline="0" dirty="0">
                <a:ln>
                  <a:noFill/>
                </a:ln>
                <a:solidFill>
                  <a:srgbClr val="666666"/>
                </a:solidFill>
                <a:effectLst/>
                <a:latin typeface="inherit"/>
              </a:rPr>
              <a:t>This bridge is widely used for testing small capacitors at </a:t>
            </a:r>
            <a:r>
              <a:rPr kumimoji="0" lang="en-US" altLang="en-US" b="1" i="0" u="none" strike="noStrike" cap="none" normalizeH="0" baseline="0">
                <a:ln>
                  <a:noFill/>
                </a:ln>
                <a:solidFill>
                  <a:srgbClr val="666666"/>
                </a:solidFill>
                <a:effectLst/>
                <a:latin typeface="inherit"/>
              </a:rPr>
              <a:t>low voltages </a:t>
            </a:r>
            <a:r>
              <a:rPr kumimoji="0" lang="en-US" altLang="en-US" b="1" i="0" u="none" strike="noStrike" cap="none" normalizeH="0" baseline="0" dirty="0">
                <a:ln>
                  <a:noFill/>
                </a:ln>
                <a:solidFill>
                  <a:srgbClr val="666666"/>
                </a:solidFill>
                <a:effectLst/>
                <a:latin typeface="inherit"/>
              </a:rPr>
              <a:t>with very </a:t>
            </a:r>
            <a:r>
              <a:rPr kumimoji="0" lang="en-US" altLang="en-US" b="1" i="0" u="none" strike="noStrike" cap="none" normalizeH="0" baseline="0">
                <a:ln>
                  <a:noFill/>
                </a:ln>
                <a:solidFill>
                  <a:srgbClr val="666666"/>
                </a:solidFill>
                <a:effectLst/>
                <a:latin typeface="inherit"/>
              </a:rPr>
              <a:t>high precision.</a:t>
            </a:r>
            <a:endParaRPr kumimoji="0" lang="en-US" altLang="en-US" b="1" i="0" u="none" strike="noStrike" cap="none" normalizeH="0" baseline="0" dirty="0">
              <a:ln>
                <a:noFill/>
              </a:ln>
              <a:solidFill>
                <a:srgbClr val="666666"/>
              </a:solidFill>
              <a:effectLst/>
              <a:latin typeface="inherit"/>
            </a:endParaRPr>
          </a:p>
          <a:p>
            <a:pPr lvl="0" algn="just"/>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3692898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0E2C4-B38E-44F9-AD0C-4095B43E5F7A}"/>
              </a:ext>
            </a:extLst>
          </p:cNvPr>
          <p:cNvSpPr>
            <a:spLocks noGrp="1"/>
          </p:cNvSpPr>
          <p:nvPr>
            <p:ph type="title"/>
          </p:nvPr>
        </p:nvSpPr>
        <p:spPr>
          <a:xfrm>
            <a:off x="838200" y="365126"/>
            <a:ext cx="10515600" cy="315912"/>
          </a:xfrm>
        </p:spPr>
        <p:txBody>
          <a:bodyPr>
            <a:noAutofit/>
          </a:bodyPr>
          <a:lstStyle/>
          <a:p>
            <a:r>
              <a:rPr lang="en-US" sz="2400" b="1" u="sng" dirty="0">
                <a:effectLst>
                  <a:outerShdw blurRad="38100" dist="38100" dir="2700000" algn="tl">
                    <a:srgbClr val="000000">
                      <a:alpha val="43137"/>
                    </a:srgbClr>
                  </a:outerShdw>
                </a:effectLst>
                <a:highlight>
                  <a:srgbClr val="008080"/>
                </a:highlight>
              </a:rPr>
              <a:t>WIEN’S BRIDGE</a:t>
            </a:r>
            <a:r>
              <a:rPr lang="en-US" sz="2400" dirty="0"/>
              <a:t>:-</a:t>
            </a:r>
            <a:endParaRPr lang="en-IN" sz="2400" dirty="0"/>
          </a:p>
        </p:txBody>
      </p:sp>
      <p:pic>
        <p:nvPicPr>
          <p:cNvPr id="4" name="Content Placeholder 3">
            <a:extLst>
              <a:ext uri="{FF2B5EF4-FFF2-40B4-BE49-F238E27FC236}">
                <a16:creationId xmlns:a16="http://schemas.microsoft.com/office/drawing/2014/main" id="{EE400D6A-AF92-4632-9DA2-F83ED965BFA9}"/>
              </a:ext>
            </a:extLst>
          </p:cNvPr>
          <p:cNvPicPr>
            <a:picLocks noGrp="1" noChangeAspect="1"/>
          </p:cNvPicPr>
          <p:nvPr>
            <p:ph idx="1"/>
          </p:nvPr>
        </p:nvPicPr>
        <p:blipFill>
          <a:blip r:embed="rId2"/>
          <a:stretch>
            <a:fillRect/>
          </a:stretch>
        </p:blipFill>
        <p:spPr>
          <a:xfrm>
            <a:off x="2584581" y="858416"/>
            <a:ext cx="7277876" cy="5234473"/>
          </a:xfrm>
          <a:prstGeom prst="rect">
            <a:avLst/>
          </a:prstGeom>
        </p:spPr>
      </p:pic>
    </p:spTree>
    <p:extLst>
      <p:ext uri="{BB962C8B-B14F-4D97-AF65-F5344CB8AC3E}">
        <p14:creationId xmlns:p14="http://schemas.microsoft.com/office/powerpoint/2010/main" val="9890483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1E5820-2793-4566-A218-2E9BA0F199F2}"/>
                  </a:ext>
                </a:extLst>
              </p:cNvPr>
              <p:cNvSpPr>
                <a:spLocks noGrp="1"/>
              </p:cNvSpPr>
              <p:nvPr>
                <p:ph idx="1"/>
              </p:nvPr>
            </p:nvSpPr>
            <p:spPr>
              <a:xfrm>
                <a:off x="838200" y="307910"/>
                <a:ext cx="10515600" cy="6279502"/>
              </a:xfrm>
            </p:spPr>
            <p:txBody>
              <a:bodyPr>
                <a:normAutofit lnSpcReduction="10000"/>
              </a:bodyPr>
              <a:lstStyle/>
              <a:p>
                <a:pPr marL="0" indent="0">
                  <a:buNone/>
                </a:pPr>
                <a:r>
                  <a:rPr lang="en-US" sz="1800" dirty="0"/>
                  <a:t>                                                                         Z1=R1 in series with C1=R1-j/</a:t>
                </a:r>
                <a:r>
                  <a:rPr lang="el-GR" sz="1800" b="1" dirty="0">
                    <a:solidFill>
                      <a:srgbClr val="666666"/>
                    </a:solidFill>
                    <a:latin typeface="inherit"/>
                  </a:rPr>
                  <a:t>ω</a:t>
                </a:r>
                <a:r>
                  <a:rPr lang="en-IN" sz="1800" b="1" dirty="0">
                    <a:solidFill>
                      <a:srgbClr val="666666"/>
                    </a:solidFill>
                    <a:latin typeface="inherit"/>
                  </a:rPr>
                  <a:t>C1</a:t>
                </a:r>
              </a:p>
              <a:p>
                <a:pPr marL="0" indent="0">
                  <a:buNone/>
                </a:pPr>
                <a:r>
                  <a:rPr lang="en-IN" sz="1800" b="1" dirty="0">
                    <a:solidFill>
                      <a:srgbClr val="666666"/>
                    </a:solidFill>
                    <a:latin typeface="inherit"/>
                  </a:rPr>
                  <a:t>                                                                            Z2=R2</a:t>
                </a:r>
              </a:p>
              <a:p>
                <a:pPr marL="0" indent="0">
                  <a:buNone/>
                </a:pPr>
                <a:r>
                  <a:rPr lang="en-IN" sz="1800" b="1" dirty="0">
                    <a:solidFill>
                      <a:srgbClr val="666666"/>
                    </a:solidFill>
                    <a:latin typeface="inherit"/>
                  </a:rPr>
                  <a:t>                                                                        Z3=R3 in parallel with C3=Y3=</a:t>
                </a:r>
                <a14:m>
                  <m:oMath xmlns:m="http://schemas.openxmlformats.org/officeDocument/2006/math">
                    <m:f>
                      <m:fPr>
                        <m:ctrlPr>
                          <a:rPr lang="en-IN" sz="1800" b="1" i="1" smtClean="0">
                            <a:solidFill>
                              <a:srgbClr val="666666"/>
                            </a:solidFill>
                            <a:latin typeface="Cambria Math" panose="02040503050406030204" pitchFamily="18" charset="0"/>
                          </a:rPr>
                        </m:ctrlPr>
                      </m:fPr>
                      <m:num>
                        <m:r>
                          <a:rPr lang="en-US" sz="1800" b="1" i="1" smtClean="0">
                            <a:solidFill>
                              <a:srgbClr val="666666"/>
                            </a:solidFill>
                            <a:latin typeface="Cambria Math" panose="02040503050406030204" pitchFamily="18" charset="0"/>
                          </a:rPr>
                          <m:t>𝟏</m:t>
                        </m:r>
                      </m:num>
                      <m:den>
                        <m:r>
                          <a:rPr lang="en-US" sz="1800" b="1" i="1" smtClean="0">
                            <a:solidFill>
                              <a:srgbClr val="666666"/>
                            </a:solidFill>
                            <a:latin typeface="Cambria Math" panose="02040503050406030204" pitchFamily="18" charset="0"/>
                          </a:rPr>
                          <m:t>𝑹</m:t>
                        </m:r>
                        <m:r>
                          <a:rPr lang="en-US" sz="1800" b="1" i="1" smtClean="0">
                            <a:solidFill>
                              <a:srgbClr val="666666"/>
                            </a:solidFill>
                            <a:latin typeface="Cambria Math" panose="02040503050406030204" pitchFamily="18" charset="0"/>
                          </a:rPr>
                          <m:t>𝟏</m:t>
                        </m:r>
                      </m:den>
                    </m:f>
                  </m:oMath>
                </a14:m>
                <a:r>
                  <a:rPr lang="en-IN" sz="1800" dirty="0"/>
                  <a:t>+</a:t>
                </a:r>
                <a:r>
                  <a:rPr lang="el-GR" sz="1800" b="1" dirty="0">
                    <a:solidFill>
                      <a:srgbClr val="666666"/>
                    </a:solidFill>
                    <a:latin typeface="inherit"/>
                  </a:rPr>
                  <a:t> </a:t>
                </a:r>
                <a:r>
                  <a:rPr lang="en-US" sz="1800" b="1" dirty="0">
                    <a:solidFill>
                      <a:srgbClr val="666666"/>
                    </a:solidFill>
                    <a:latin typeface="inherit"/>
                  </a:rPr>
                  <a:t>j</a:t>
                </a:r>
                <a:r>
                  <a:rPr lang="el-GR" sz="1800" b="1" dirty="0">
                    <a:solidFill>
                      <a:srgbClr val="666666"/>
                    </a:solidFill>
                    <a:latin typeface="inherit"/>
                  </a:rPr>
                  <a:t>ω</a:t>
                </a:r>
                <a:r>
                  <a:rPr lang="en-IN" sz="1800" b="1" dirty="0">
                    <a:solidFill>
                      <a:srgbClr val="666666"/>
                    </a:solidFill>
                    <a:latin typeface="inherit"/>
                  </a:rPr>
                  <a:t>C3</a:t>
                </a:r>
              </a:p>
              <a:p>
                <a:pPr marL="0" indent="0">
                  <a:buNone/>
                </a:pPr>
                <a:r>
                  <a:rPr lang="en-IN" sz="1800" b="1" dirty="0">
                    <a:solidFill>
                      <a:srgbClr val="666666"/>
                    </a:solidFill>
                    <a:latin typeface="inherit"/>
                  </a:rPr>
                  <a:t>                                                                            Z4=R4</a:t>
                </a:r>
              </a:p>
              <a:p>
                <a:pPr marL="0" indent="0">
                  <a:buNone/>
                </a:pPr>
                <a:r>
                  <a:rPr lang="en-IN" sz="1800" b="1" dirty="0">
                    <a:solidFill>
                      <a:srgbClr val="666666"/>
                    </a:solidFill>
                    <a:latin typeface="inherit"/>
                  </a:rPr>
                  <a:t>                                                                 At balanced condition; =&gt; Z1Z4=Z2Z3</a:t>
                </a:r>
              </a:p>
              <a:p>
                <a:pPr marL="0" indent="0">
                  <a:buNone/>
                </a:pPr>
                <a:r>
                  <a:rPr lang="en-IN" sz="1800" b="1" dirty="0">
                    <a:solidFill>
                      <a:srgbClr val="666666"/>
                    </a:solidFill>
                    <a:latin typeface="inherit"/>
                  </a:rPr>
                  <a:t>                                                                   Z2=Z1Z4/Z3=&gt;Z2=Z1Z4Y3</a:t>
                </a:r>
              </a:p>
              <a:p>
                <a:pPr marL="0" indent="0">
                  <a:buNone/>
                </a:pPr>
                <a:r>
                  <a:rPr lang="en-IN" sz="1800" b="1" dirty="0">
                    <a:solidFill>
                      <a:srgbClr val="666666"/>
                    </a:solidFill>
                    <a:latin typeface="inherit"/>
                  </a:rPr>
                  <a:t>                                                                 R2=</a:t>
                </a:r>
                <a14:m>
                  <m:oMath xmlns:m="http://schemas.openxmlformats.org/officeDocument/2006/math">
                    <m:d>
                      <m:dPr>
                        <m:ctrlPr>
                          <a:rPr lang="en-IN" sz="1800" b="1" i="1" smtClean="0">
                            <a:solidFill>
                              <a:srgbClr val="666666"/>
                            </a:solidFill>
                            <a:latin typeface="Cambria Math" panose="02040503050406030204" pitchFamily="18" charset="0"/>
                          </a:rPr>
                        </m:ctrlPr>
                      </m:dPr>
                      <m:e>
                        <m:r>
                          <a:rPr lang="en-US" sz="1800" b="1" i="1" smtClean="0">
                            <a:solidFill>
                              <a:srgbClr val="666666"/>
                            </a:solidFill>
                            <a:latin typeface="Cambria Math" panose="02040503050406030204" pitchFamily="18" charset="0"/>
                          </a:rPr>
                          <m:t>𝑹</m:t>
                        </m:r>
                        <m:r>
                          <a:rPr lang="en-US" sz="1800" b="1" i="1" smtClean="0">
                            <a:solidFill>
                              <a:srgbClr val="666666"/>
                            </a:solidFill>
                            <a:latin typeface="Cambria Math" panose="02040503050406030204" pitchFamily="18" charset="0"/>
                          </a:rPr>
                          <m:t>𝟏</m:t>
                        </m:r>
                        <m:r>
                          <a:rPr lang="en-US" sz="1800" b="1" i="1" smtClean="0">
                            <a:solidFill>
                              <a:srgbClr val="666666"/>
                            </a:solidFill>
                            <a:latin typeface="Cambria Math" panose="02040503050406030204" pitchFamily="18" charset="0"/>
                          </a:rPr>
                          <m:t>−</m:t>
                        </m:r>
                        <m:f>
                          <m:fPr>
                            <m:ctrlPr>
                              <a:rPr lang="en-US" sz="1800" b="1" i="1" smtClean="0">
                                <a:solidFill>
                                  <a:srgbClr val="666666"/>
                                </a:solidFill>
                                <a:latin typeface="Cambria Math" panose="02040503050406030204" pitchFamily="18" charset="0"/>
                              </a:rPr>
                            </m:ctrlPr>
                          </m:fPr>
                          <m:num>
                            <m:r>
                              <a:rPr lang="en-US" sz="1800" b="1" i="1" smtClean="0">
                                <a:solidFill>
                                  <a:srgbClr val="666666"/>
                                </a:solidFill>
                                <a:latin typeface="Cambria Math" panose="02040503050406030204" pitchFamily="18" charset="0"/>
                              </a:rPr>
                              <m:t>𝒋</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den>
                        </m:f>
                      </m:e>
                    </m:d>
                  </m:oMath>
                </a14:m>
                <a:r>
                  <a:rPr lang="en-IN" sz="1800" b="1" dirty="0">
                    <a:solidFill>
                      <a:srgbClr val="666666"/>
                    </a:solidFill>
                    <a:latin typeface="inherit"/>
                  </a:rPr>
                  <a:t>R4</a:t>
                </a:r>
                <a14:m>
                  <m:oMath xmlns:m="http://schemas.openxmlformats.org/officeDocument/2006/math">
                    <m:d>
                      <m:dPr>
                        <m:ctrlPr>
                          <a:rPr lang="en-IN" sz="1800" b="1" i="1" dirty="0" smtClean="0">
                            <a:solidFill>
                              <a:srgbClr val="666666"/>
                            </a:solidFill>
                            <a:latin typeface="Cambria Math" panose="02040503050406030204" pitchFamily="18" charset="0"/>
                          </a:rPr>
                        </m:ctrlPr>
                      </m:dPr>
                      <m:e>
                        <m:f>
                          <m:fPr>
                            <m:ctrlPr>
                              <a:rPr lang="en-IN" sz="1800" b="1" i="1" dirty="0" smtClean="0">
                                <a:solidFill>
                                  <a:srgbClr val="666666"/>
                                </a:solidFill>
                                <a:latin typeface="Cambria Math" panose="02040503050406030204" pitchFamily="18" charset="0"/>
                              </a:rPr>
                            </m:ctrlPr>
                          </m:fPr>
                          <m:num>
                            <m:r>
                              <a:rPr lang="en-US" sz="1800" b="1" i="1" dirty="0" smtClean="0">
                                <a:solidFill>
                                  <a:srgbClr val="666666"/>
                                </a:solidFill>
                                <a:latin typeface="Cambria Math" panose="02040503050406030204" pitchFamily="18" charset="0"/>
                              </a:rPr>
                              <m:t>𝟏</m:t>
                            </m:r>
                          </m:num>
                          <m:den>
                            <m:r>
                              <a:rPr lang="en-US" sz="1800" b="1" i="1" dirty="0" smtClean="0">
                                <a:solidFill>
                                  <a:srgbClr val="666666"/>
                                </a:solidFill>
                                <a:latin typeface="Cambria Math" panose="02040503050406030204" pitchFamily="18" charset="0"/>
                              </a:rPr>
                              <m:t>𝑹</m:t>
                            </m:r>
                            <m:r>
                              <a:rPr lang="en-US" sz="1800" b="1" i="1" dirty="0" smtClean="0">
                                <a:solidFill>
                                  <a:srgbClr val="666666"/>
                                </a:solidFill>
                                <a:latin typeface="Cambria Math" panose="02040503050406030204" pitchFamily="18" charset="0"/>
                              </a:rPr>
                              <m:t>𝟑</m:t>
                            </m:r>
                          </m:den>
                        </m:f>
                        <m:r>
                          <a:rPr lang="en-US" sz="1800" b="1" i="1" dirty="0" smtClean="0">
                            <a:solidFill>
                              <a:srgbClr val="666666"/>
                            </a:solidFill>
                            <a:latin typeface="Cambria Math" panose="02040503050406030204" pitchFamily="18" charset="0"/>
                          </a:rPr>
                          <m:t>+</m:t>
                        </m:r>
                        <m:r>
                          <a:rPr lang="en-US" sz="1800" b="1" i="1" dirty="0" smtClean="0">
                            <a:solidFill>
                              <a:srgbClr val="666666"/>
                            </a:solidFill>
                            <a:latin typeface="Cambria Math" panose="02040503050406030204" pitchFamily="18" charset="0"/>
                          </a:rPr>
                          <m:t>𝒋</m:t>
                        </m:r>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smtClean="0">
                            <a:solidFill>
                              <a:srgbClr val="666666"/>
                            </a:solidFill>
                            <a:latin typeface="Cambria Math" panose="02040503050406030204" pitchFamily="18" charset="0"/>
                          </a:rPr>
                          <m:t>𝟑</m:t>
                        </m:r>
                      </m:e>
                    </m:d>
                  </m:oMath>
                </a14:m>
                <a:endParaRPr lang="en-IN" sz="1800" b="1" dirty="0">
                  <a:solidFill>
                    <a:srgbClr val="666666"/>
                  </a:solidFill>
                  <a:latin typeface="inherit"/>
                </a:endParaRPr>
              </a:p>
              <a:p>
                <a:pPr marL="0" indent="0">
                  <a:buNone/>
                </a:pPr>
                <a:r>
                  <a:rPr lang="en-IN" sz="1800" b="1" dirty="0">
                    <a:solidFill>
                      <a:srgbClr val="666666"/>
                    </a:solidFill>
                    <a:latin typeface="inherit"/>
                  </a:rPr>
                  <a:t>                                                                =</a:t>
                </a:r>
                <a14:m>
                  <m:oMath xmlns:m="http://schemas.openxmlformats.org/officeDocument/2006/math">
                    <m:d>
                      <m:dPr>
                        <m:ctrlPr>
                          <a:rPr lang="en-IN" sz="1800" b="1" i="1" smtClean="0">
                            <a:solidFill>
                              <a:srgbClr val="666666"/>
                            </a:solidFill>
                            <a:latin typeface="Cambria Math" panose="02040503050406030204" pitchFamily="18" charset="0"/>
                          </a:rPr>
                        </m:ctrlPr>
                      </m:dPr>
                      <m:e>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r>
                          <a:rPr lang="en-US" sz="1800" b="1" i="1" dirty="0" smtClean="0">
                            <a:solidFill>
                              <a:srgbClr val="666666"/>
                            </a:solidFill>
                            <a:latin typeface="Cambria Math" panose="02040503050406030204" pitchFamily="18" charset="0"/>
                          </a:rPr>
                          <m:t>−</m:t>
                        </m:r>
                        <m:f>
                          <m:fPr>
                            <m:ctrlPr>
                              <a:rPr lang="en-US" sz="1800" b="1" i="1" dirty="0" smtClean="0">
                                <a:solidFill>
                                  <a:srgbClr val="666666"/>
                                </a:solidFill>
                                <a:latin typeface="Cambria Math" panose="02040503050406030204" pitchFamily="18" charset="0"/>
                              </a:rPr>
                            </m:ctrlPr>
                          </m:fPr>
                          <m:num>
                            <m:r>
                              <a:rPr lang="en-US" sz="1800" b="1" i="1" dirty="0" smtClean="0">
                                <a:solidFill>
                                  <a:srgbClr val="666666"/>
                                </a:solidFill>
                                <a:latin typeface="Cambria Math" panose="02040503050406030204" pitchFamily="18" charset="0"/>
                              </a:rPr>
                              <m:t>𝒋</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den>
                        </m:f>
                      </m:e>
                    </m:d>
                    <m:d>
                      <m:dPr>
                        <m:ctrlPr>
                          <a:rPr lang="en-IN" sz="1800" b="1" i="1" smtClean="0">
                            <a:solidFill>
                              <a:srgbClr val="666666"/>
                            </a:solidFill>
                            <a:latin typeface="Cambria Math" panose="02040503050406030204" pitchFamily="18" charset="0"/>
                          </a:rPr>
                        </m:ctrlPr>
                      </m:dPr>
                      <m:e>
                        <m:f>
                          <m:fPr>
                            <m:ctrlPr>
                              <a:rPr lang="en-IN" sz="1800" b="1" i="1" smtClean="0">
                                <a:solidFill>
                                  <a:srgbClr val="666666"/>
                                </a:solidFill>
                                <a:latin typeface="Cambria Math" panose="02040503050406030204" pitchFamily="18" charset="0"/>
                              </a:rPr>
                            </m:ctrlPr>
                          </m:fPr>
                          <m:num>
                            <m:r>
                              <a:rPr lang="en-US" sz="1800" b="1" i="1" smtClean="0">
                                <a:solidFill>
                                  <a:srgbClr val="666666"/>
                                </a:solidFill>
                                <a:latin typeface="Cambria Math" panose="02040503050406030204" pitchFamily="18" charset="0"/>
                              </a:rPr>
                              <m:t>𝟏</m:t>
                            </m:r>
                          </m:num>
                          <m:den>
                            <m:r>
                              <a:rPr lang="en-US" sz="1800" b="1" i="1" dirty="0">
                                <a:solidFill>
                                  <a:srgbClr val="666666"/>
                                </a:solidFill>
                                <a:latin typeface="Cambria Math" panose="02040503050406030204" pitchFamily="18" charset="0"/>
                              </a:rPr>
                              <m:t>𝑹</m:t>
                            </m:r>
                            <m:r>
                              <a:rPr lang="en-US" sz="1800" b="1" i="1" dirty="0">
                                <a:solidFill>
                                  <a:srgbClr val="666666"/>
                                </a:solidFill>
                                <a:latin typeface="Cambria Math" panose="02040503050406030204" pitchFamily="18" charset="0"/>
                              </a:rPr>
                              <m:t>𝟑</m:t>
                            </m:r>
                          </m:den>
                        </m:f>
                        <m:r>
                          <a:rPr lang="en-US" sz="1800" b="1" i="1" smtClean="0">
                            <a:solidFill>
                              <a:srgbClr val="666666"/>
                            </a:solidFill>
                            <a:latin typeface="Cambria Math" panose="02040503050406030204" pitchFamily="18" charset="0"/>
                          </a:rPr>
                          <m:t>+</m:t>
                        </m:r>
                        <m:r>
                          <a:rPr lang="en-US" sz="1800" b="1" i="1" dirty="0">
                            <a:solidFill>
                              <a:srgbClr val="666666"/>
                            </a:solidFill>
                            <a:latin typeface="Cambria Math" panose="02040503050406030204" pitchFamily="18" charset="0"/>
                          </a:rPr>
                          <m:t>𝒋</m:t>
                        </m:r>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e>
                    </m:d>
                  </m:oMath>
                </a14:m>
                <a:endParaRPr lang="en-IN" sz="1800" b="1" dirty="0">
                  <a:solidFill>
                    <a:srgbClr val="666666"/>
                  </a:solidFill>
                  <a:latin typeface="inherit"/>
                </a:endParaRPr>
              </a:p>
              <a:p>
                <a:pPr marL="0" indent="0">
                  <a:buNone/>
                </a:pPr>
                <a:r>
                  <a:rPr lang="en-IN" sz="1800" b="1" dirty="0">
                    <a:solidFill>
                      <a:srgbClr val="666666"/>
                    </a:solidFill>
                  </a:rPr>
                  <a:t>                                                                </a:t>
                </a:r>
                <a14:m>
                  <m:oMath xmlns:m="http://schemas.openxmlformats.org/officeDocument/2006/math">
                    <m:f>
                      <m:fPr>
                        <m:ctrlPr>
                          <a:rPr lang="en-IN" sz="1800" b="1" i="1" smtClean="0">
                            <a:solidFill>
                              <a:srgbClr val="666666"/>
                            </a:solidFill>
                            <a:latin typeface="Cambria Math" panose="02040503050406030204" pitchFamily="18" charset="0"/>
                          </a:rPr>
                        </m:ctrlPr>
                      </m:fPr>
                      <m:num>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smtClean="0">
                        <a:solidFill>
                          <a:srgbClr val="666666"/>
                        </a:solidFill>
                        <a:latin typeface="Cambria Math" panose="02040503050406030204" pitchFamily="18" charset="0"/>
                      </a:rPr>
                      <m:t>−</m:t>
                    </m:r>
                    <m:f>
                      <m:fPr>
                        <m:ctrlPr>
                          <a:rPr lang="en-US" sz="1800" b="1" i="1" smtClean="0">
                            <a:solidFill>
                              <a:srgbClr val="666666"/>
                            </a:solidFill>
                            <a:latin typeface="Cambria Math" panose="02040503050406030204" pitchFamily="18" charset="0"/>
                          </a:rPr>
                        </m:ctrlPr>
                      </m:fPr>
                      <m:num>
                        <m:r>
                          <a:rPr lang="en-US" sz="1800" b="1" i="1" dirty="0">
                            <a:solidFill>
                              <a:srgbClr val="666666"/>
                            </a:solidFill>
                            <a:latin typeface="Cambria Math" panose="02040503050406030204" pitchFamily="18" charset="0"/>
                          </a:rPr>
                          <m:t>𝒋</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smtClean="0">
                        <a:solidFill>
                          <a:srgbClr val="666666"/>
                        </a:solidFill>
                        <a:latin typeface="Cambria Math" panose="02040503050406030204" pitchFamily="18" charset="0"/>
                      </a:rPr>
                      <m:t>+</m:t>
                    </m:r>
                  </m:oMath>
                </a14:m>
                <a:r>
                  <a:rPr lang="en-US" sz="1800" b="1" dirty="0">
                    <a:solidFill>
                      <a:srgbClr val="666666"/>
                    </a:solidFill>
                  </a:rPr>
                  <a:t> </a:t>
                </a:r>
                <a14:m>
                  <m:oMath xmlns:m="http://schemas.openxmlformats.org/officeDocument/2006/math">
                    <m:r>
                      <a:rPr lang="en-US" sz="1800" b="1" i="1" dirty="0">
                        <a:solidFill>
                          <a:srgbClr val="666666"/>
                        </a:solidFill>
                        <a:latin typeface="Cambria Math" panose="02040503050406030204" pitchFamily="18" charset="0"/>
                      </a:rPr>
                      <m:t>𝒋</m:t>
                    </m:r>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r>
                      <m:rPr>
                        <m:nor/>
                      </m:rPr>
                      <a:rPr lang="en-US" sz="1800" b="1" i="0" dirty="0" smtClean="0">
                        <a:solidFill>
                          <a:srgbClr val="666666"/>
                        </a:solidFill>
                        <a:latin typeface="inherit"/>
                      </a:rPr>
                      <m:t>−</m:t>
                    </m:r>
                    <m:f>
                      <m:fPr>
                        <m:ctrlPr>
                          <a:rPr lang="en-US" sz="1800" b="1" i="1" dirty="0" smtClean="0">
                            <a:solidFill>
                              <a:srgbClr val="666666"/>
                            </a:solidFill>
                            <a:latin typeface="Cambria Math" panose="02040503050406030204" pitchFamily="18" charset="0"/>
                          </a:rPr>
                        </m:ctrlPr>
                      </m:fPr>
                      <m:num>
                        <m:sSup>
                          <m:sSupPr>
                            <m:ctrlPr>
                              <a:rPr lang="en-US" sz="1800" b="1" i="1" dirty="0" smtClean="0">
                                <a:solidFill>
                                  <a:srgbClr val="666666"/>
                                </a:solidFill>
                                <a:latin typeface="Cambria Math" panose="02040503050406030204" pitchFamily="18" charset="0"/>
                              </a:rPr>
                            </m:ctrlPr>
                          </m:sSupPr>
                          <m:e>
                            <m:r>
                              <a:rPr lang="en-US" sz="1800" b="1" i="1" dirty="0" smtClean="0">
                                <a:solidFill>
                                  <a:srgbClr val="666666"/>
                                </a:solidFill>
                                <a:latin typeface="Cambria Math" panose="02040503050406030204" pitchFamily="18" charset="0"/>
                              </a:rPr>
                              <m:t>𝒋</m:t>
                            </m:r>
                          </m:e>
                          <m:sup>
                            <m:r>
                              <a:rPr lang="en-US" sz="1800" b="1" i="1" dirty="0" smtClean="0">
                                <a:solidFill>
                                  <a:srgbClr val="666666"/>
                                </a:solidFill>
                                <a:latin typeface="Cambria Math" panose="02040503050406030204" pitchFamily="18" charset="0"/>
                              </a:rPr>
                              <m:t>𝟐</m:t>
                            </m:r>
                          </m:sup>
                        </m:sSup>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smtClean="0">
                            <a:solidFill>
                              <a:srgbClr val="666666"/>
                            </a:solidFill>
                            <a:latin typeface="Cambria Math" panose="02040503050406030204" pitchFamily="18" charset="0"/>
                          </a:rPr>
                          <m:t>𝟑</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den>
                    </m:f>
                  </m:oMath>
                </a14:m>
                <a:endParaRPr lang="en-IN" sz="1800" b="1" dirty="0">
                  <a:solidFill>
                    <a:srgbClr val="666666"/>
                  </a:solidFill>
                  <a:latin typeface="inherit"/>
                </a:endParaRPr>
              </a:p>
              <a:p>
                <a:pPr marL="0" indent="0">
                  <a:buNone/>
                </a:pPr>
                <a:r>
                  <a:rPr lang="en-IN" sz="1800" b="1" dirty="0">
                    <a:solidFill>
                      <a:srgbClr val="666666"/>
                    </a:solidFill>
                  </a:rPr>
                  <a:t>                                                                 </a:t>
                </a:r>
                <a14:m>
                  <m:oMath xmlns:m="http://schemas.openxmlformats.org/officeDocument/2006/math">
                    <m:f>
                      <m:fPr>
                        <m:ctrlPr>
                          <a:rPr lang="en-IN" sz="1800" b="1" i="1">
                            <a:solidFill>
                              <a:srgbClr val="666666"/>
                            </a:solidFill>
                            <a:latin typeface="Cambria Math" panose="02040503050406030204" pitchFamily="18" charset="0"/>
                          </a:rPr>
                        </m:ctrlPr>
                      </m:fPr>
                      <m:num>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a:solidFill>
                          <a:srgbClr val="666666"/>
                        </a:solidFill>
                        <a:latin typeface="Cambria Math" panose="02040503050406030204" pitchFamily="18" charset="0"/>
                      </a:rPr>
                      <m:t>−</m:t>
                    </m:r>
                    <m:f>
                      <m:fPr>
                        <m:ctrlPr>
                          <a:rPr lang="en-US" sz="1800" b="1" i="1">
                            <a:solidFill>
                              <a:srgbClr val="666666"/>
                            </a:solidFill>
                            <a:latin typeface="Cambria Math" panose="02040503050406030204" pitchFamily="18" charset="0"/>
                          </a:rPr>
                        </m:ctrlPr>
                      </m:fPr>
                      <m:num>
                        <m:r>
                          <a:rPr lang="en-US" sz="1800" b="1" i="1" dirty="0">
                            <a:solidFill>
                              <a:srgbClr val="666666"/>
                            </a:solidFill>
                            <a:latin typeface="Cambria Math" panose="02040503050406030204" pitchFamily="18" charset="0"/>
                          </a:rPr>
                          <m:t>𝒋</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a:solidFill>
                          <a:srgbClr val="666666"/>
                        </a:solidFill>
                        <a:latin typeface="Cambria Math" panose="02040503050406030204" pitchFamily="18" charset="0"/>
                      </a:rPr>
                      <m:t>+</m:t>
                    </m:r>
                  </m:oMath>
                </a14:m>
                <a:r>
                  <a:rPr lang="en-US" sz="1800" b="1" dirty="0">
                    <a:solidFill>
                      <a:srgbClr val="666666"/>
                    </a:solidFill>
                  </a:rPr>
                  <a:t> </a:t>
                </a:r>
                <a14:m>
                  <m:oMath xmlns:m="http://schemas.openxmlformats.org/officeDocument/2006/math">
                    <m:r>
                      <a:rPr lang="en-US" sz="1800" b="1" i="1" dirty="0">
                        <a:solidFill>
                          <a:srgbClr val="666666"/>
                        </a:solidFill>
                        <a:latin typeface="Cambria Math" panose="02040503050406030204" pitchFamily="18" charset="0"/>
                      </a:rPr>
                      <m:t>𝒋</m:t>
                    </m:r>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r>
                      <m:rPr>
                        <m:nor/>
                      </m:rPr>
                      <a:rPr lang="en-US" sz="1800" b="1" i="1" dirty="0" smtClean="0">
                        <a:solidFill>
                          <a:srgbClr val="666666"/>
                        </a:solidFill>
                        <a:latin typeface="inherit"/>
                      </a:rPr>
                      <m:t>+</m:t>
                    </m:r>
                    <m:f>
                      <m:fPr>
                        <m:ctrlPr>
                          <a:rPr lang="en-US" sz="1800" b="1" i="1" dirty="0">
                            <a:solidFill>
                              <a:srgbClr val="666666"/>
                            </a:solidFill>
                            <a:latin typeface="Cambria Math" panose="02040503050406030204" pitchFamily="18" charset="0"/>
                          </a:rPr>
                        </m:ctrlPr>
                      </m:fPr>
                      <m:num>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n-IN" sz="1800" b="1" dirty="0">
                            <a:solidFill>
                              <a:srgbClr val="666666"/>
                            </a:solidFill>
                            <a:latin typeface="inherit"/>
                          </a:rPr>
                          <m:t>C</m:t>
                        </m:r>
                        <m:r>
                          <m:rPr>
                            <m:nor/>
                          </m:rPr>
                          <a:rPr lang="en-IN" sz="1800" b="1" dirty="0">
                            <a:solidFill>
                              <a:srgbClr val="666666"/>
                            </a:solidFill>
                            <a:latin typeface="inherit"/>
                          </a:rPr>
                          <m:t>1</m:t>
                        </m:r>
                      </m:den>
                    </m:f>
                  </m:oMath>
                </a14:m>
                <a:endParaRPr lang="en-IN" sz="1800" b="1" dirty="0">
                  <a:solidFill>
                    <a:srgbClr val="666666"/>
                  </a:solidFill>
                  <a:latin typeface="inherit"/>
                </a:endParaRPr>
              </a:p>
              <a:p>
                <a:pPr marL="0" indent="0">
                  <a:buNone/>
                </a:pPr>
                <a:r>
                  <a:rPr lang="en-IN" sz="1800" dirty="0">
                    <a:solidFill>
                      <a:srgbClr val="666666"/>
                    </a:solidFill>
                    <a:latin typeface="Arial" panose="020B0604020202020204" pitchFamily="34" charset="0"/>
                  </a:rPr>
                  <a:t>                                                 Now equate the real and imaginary terms</a:t>
                </a:r>
              </a:p>
              <a:p>
                <a:pPr marL="0" indent="0">
                  <a:buNone/>
                </a:pPr>
                <a:r>
                  <a:rPr lang="en-IN" sz="1800" b="1" dirty="0">
                    <a:solidFill>
                      <a:srgbClr val="666666"/>
                    </a:solidFill>
                    <a:latin typeface="inherit"/>
                  </a:rPr>
                  <a:t>                                                                               R2=</a:t>
                </a:r>
                <a:r>
                  <a:rPr lang="en-IN" sz="1800" b="1" dirty="0">
                    <a:solidFill>
                      <a:srgbClr val="666666"/>
                    </a:solidFill>
                  </a:rPr>
                  <a:t> </a:t>
                </a:r>
                <a14:m>
                  <m:oMath xmlns:m="http://schemas.openxmlformats.org/officeDocument/2006/math">
                    <m:f>
                      <m:fPr>
                        <m:ctrlPr>
                          <a:rPr lang="en-IN" sz="1800" b="1" i="1">
                            <a:solidFill>
                              <a:srgbClr val="666666"/>
                            </a:solidFill>
                            <a:latin typeface="Cambria Math" panose="02040503050406030204" pitchFamily="18" charset="0"/>
                          </a:rPr>
                        </m:ctrlPr>
                      </m:fPr>
                      <m:num>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n-IN" sz="1800" b="1" dirty="0">
                            <a:solidFill>
                              <a:srgbClr val="666666"/>
                            </a:solidFill>
                            <a:latin typeface="inherit"/>
                          </a:rPr>
                          <m:t>R</m:t>
                        </m:r>
                        <m:r>
                          <m:rPr>
                            <m:nor/>
                          </m:rPr>
                          <a:rPr lang="en-IN" sz="1800" b="1" dirty="0">
                            <a:solidFill>
                              <a:srgbClr val="666666"/>
                            </a:solidFill>
                            <a:latin typeface="inherit"/>
                          </a:rPr>
                          <m:t>3</m:t>
                        </m:r>
                      </m:den>
                    </m:f>
                  </m:oMath>
                </a14:m>
                <a:r>
                  <a:rPr lang="en-IN" sz="1800" b="1" dirty="0">
                    <a:solidFill>
                      <a:srgbClr val="666666"/>
                    </a:solidFill>
                    <a:latin typeface="inherit"/>
                  </a:rPr>
                  <a:t>+</a:t>
                </a:r>
                <a:r>
                  <a:rPr lang="en-US" sz="1800" b="1" dirty="0">
                    <a:solidFill>
                      <a:srgbClr val="666666"/>
                    </a:solidFill>
                  </a:rPr>
                  <a:t> </a:t>
                </a:r>
                <a14:m>
                  <m:oMath xmlns:m="http://schemas.openxmlformats.org/officeDocument/2006/math">
                    <m:f>
                      <m:fPr>
                        <m:ctrlPr>
                          <a:rPr lang="en-US" sz="1800" b="1" i="1" dirty="0">
                            <a:solidFill>
                              <a:srgbClr val="666666"/>
                            </a:solidFill>
                            <a:latin typeface="Cambria Math" panose="02040503050406030204" pitchFamily="18" charset="0"/>
                          </a:rPr>
                        </m:ctrlPr>
                      </m:fPr>
                      <m:num>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n-IN" sz="1800" b="1" dirty="0">
                            <a:solidFill>
                              <a:srgbClr val="666666"/>
                            </a:solidFill>
                            <a:latin typeface="inherit"/>
                          </a:rPr>
                          <m:t>C</m:t>
                        </m:r>
                        <m:r>
                          <m:rPr>
                            <m:nor/>
                          </m:rPr>
                          <a:rPr lang="en-IN" sz="1800" b="1" dirty="0">
                            <a:solidFill>
                              <a:srgbClr val="666666"/>
                            </a:solidFill>
                            <a:latin typeface="inherit"/>
                          </a:rPr>
                          <m:t>1</m:t>
                        </m:r>
                      </m:den>
                    </m:f>
                  </m:oMath>
                </a14:m>
                <a:endParaRPr lang="en-IN" sz="1800" b="1" dirty="0">
                  <a:solidFill>
                    <a:srgbClr val="666666"/>
                  </a:solidFill>
                  <a:latin typeface="inherit"/>
                </a:endParaRPr>
              </a:p>
              <a:p>
                <a:pPr marL="0" indent="0">
                  <a:buNone/>
                </a:pPr>
                <a:r>
                  <a:rPr lang="en-IN" sz="1800" b="1" dirty="0">
                    <a:solidFill>
                      <a:srgbClr val="666666"/>
                    </a:solidFill>
                  </a:rPr>
                  <a:t>                                                                      </a:t>
                </a:r>
                <a14:m>
                  <m:oMath xmlns:m="http://schemas.openxmlformats.org/officeDocument/2006/math">
                    <m:f>
                      <m:fPr>
                        <m:ctrlPr>
                          <a:rPr lang="en-IN" sz="1800" b="1" i="1">
                            <a:solidFill>
                              <a:srgbClr val="666666"/>
                            </a:solidFill>
                            <a:latin typeface="Cambria Math" panose="02040503050406030204" pitchFamily="18" charset="0"/>
                          </a:rPr>
                        </m:ctrlPr>
                      </m:fPr>
                      <m:num>
                        <m:r>
                          <m:rPr>
                            <m:nor/>
                          </m:rPr>
                          <a:rPr lang="en-IN" sz="1800" b="1" dirty="0">
                            <a:solidFill>
                              <a:srgbClr val="666666"/>
                            </a:solidFill>
                            <a:latin typeface="inherit"/>
                          </a:rPr>
                          <m:t>R</m:t>
                        </m:r>
                        <m:r>
                          <a:rPr lang="en-US" sz="1800" b="1" i="1" dirty="0" smtClean="0">
                            <a:solidFill>
                              <a:srgbClr val="666666"/>
                            </a:solidFill>
                            <a:latin typeface="Cambria Math" panose="02040503050406030204" pitchFamily="18" charset="0"/>
                          </a:rPr>
                          <m:t>𝟐</m:t>
                        </m:r>
                      </m:num>
                      <m:den>
                        <m:r>
                          <m:rPr>
                            <m:nor/>
                          </m:rPr>
                          <a:rPr lang="en-IN" sz="1800" b="1" dirty="0">
                            <a:solidFill>
                              <a:srgbClr val="666666"/>
                            </a:solidFill>
                            <a:latin typeface="inherit"/>
                          </a:rPr>
                          <m:t>R</m:t>
                        </m:r>
                        <m:r>
                          <a:rPr lang="en-US" sz="1800" b="1" i="1" dirty="0" smtClean="0">
                            <a:solidFill>
                              <a:srgbClr val="666666"/>
                            </a:solidFill>
                            <a:latin typeface="Cambria Math" panose="02040503050406030204" pitchFamily="18" charset="0"/>
                          </a:rPr>
                          <m:t>𝟒</m:t>
                        </m:r>
                      </m:den>
                    </m:f>
                    <m:r>
                      <a:rPr lang="en-US" sz="1800" b="1" i="1" dirty="0" smtClean="0">
                        <a:solidFill>
                          <a:srgbClr val="666666"/>
                        </a:solidFill>
                        <a:latin typeface="Cambria Math" panose="02040503050406030204" pitchFamily="18" charset="0"/>
                      </a:rPr>
                      <m:t>=</m:t>
                    </m:r>
                    <m:f>
                      <m:fPr>
                        <m:ctrlPr>
                          <a:rPr lang="en-IN" sz="1800" b="1" i="1">
                            <a:solidFill>
                              <a:srgbClr val="666666"/>
                            </a:solidFill>
                            <a:latin typeface="Cambria Math" panose="02040503050406030204" pitchFamily="18" charset="0"/>
                          </a:rPr>
                        </m:ctrlPr>
                      </m:fPr>
                      <m:num>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num>
                      <m:den>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dirty="0" smtClean="0">
                        <a:solidFill>
                          <a:srgbClr val="666666"/>
                        </a:solidFill>
                        <a:latin typeface="Cambria Math" panose="02040503050406030204" pitchFamily="18" charset="0"/>
                      </a:rPr>
                      <m:t>+</m:t>
                    </m:r>
                  </m:oMath>
                </a14:m>
                <a:r>
                  <a:rPr lang="en-US" sz="1800" b="1" dirty="0">
                    <a:solidFill>
                      <a:srgbClr val="666666"/>
                    </a:solidFill>
                  </a:rPr>
                  <a:t> </a:t>
                </a:r>
                <a14:m>
                  <m:oMath xmlns:m="http://schemas.openxmlformats.org/officeDocument/2006/math">
                    <m:f>
                      <m:fPr>
                        <m:ctrlPr>
                          <a:rPr lang="en-US" sz="1800" b="1" i="1" dirty="0">
                            <a:solidFill>
                              <a:srgbClr val="666666"/>
                            </a:solidFill>
                            <a:latin typeface="Cambria Math" panose="02040503050406030204" pitchFamily="18" charset="0"/>
                          </a:rPr>
                        </m:ctrlPr>
                      </m:fPr>
                      <m:num>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num>
                      <m:den>
                        <m:r>
                          <m:rPr>
                            <m:nor/>
                          </m:rPr>
                          <a:rPr lang="en-IN" sz="1800" b="1" dirty="0">
                            <a:solidFill>
                              <a:srgbClr val="666666"/>
                            </a:solidFill>
                            <a:latin typeface="inherit"/>
                          </a:rPr>
                          <m:t>C</m:t>
                        </m:r>
                        <m:r>
                          <m:rPr>
                            <m:nor/>
                          </m:rPr>
                          <a:rPr lang="en-IN" sz="1800" b="1" dirty="0">
                            <a:solidFill>
                              <a:srgbClr val="666666"/>
                            </a:solidFill>
                            <a:latin typeface="inherit"/>
                          </a:rPr>
                          <m:t>1</m:t>
                        </m:r>
                      </m:den>
                    </m:f>
                  </m:oMath>
                </a14:m>
                <a:r>
                  <a:rPr lang="en-IN" sz="1800" b="1" dirty="0">
                    <a:solidFill>
                      <a:srgbClr val="666666"/>
                    </a:solidFill>
                    <a:latin typeface="inherit"/>
                  </a:rPr>
                  <a:t> &amp; </a:t>
                </a:r>
                <a14:m>
                  <m:oMath xmlns:m="http://schemas.openxmlformats.org/officeDocument/2006/math">
                    <m:r>
                      <a:rPr lang="en-US" sz="1800" b="1" i="1">
                        <a:solidFill>
                          <a:srgbClr val="666666"/>
                        </a:solidFill>
                        <a:latin typeface="Cambria Math" panose="02040503050406030204" pitchFamily="18" charset="0"/>
                      </a:rPr>
                      <m:t>−</m:t>
                    </m:r>
                    <m:f>
                      <m:fPr>
                        <m:ctrlPr>
                          <a:rPr lang="en-US" sz="1800" b="1" i="1">
                            <a:solidFill>
                              <a:srgbClr val="666666"/>
                            </a:solidFill>
                            <a:latin typeface="Cambria Math" panose="02040503050406030204" pitchFamily="18" charset="0"/>
                          </a:rPr>
                        </m:ctrlPr>
                      </m:fPr>
                      <m:num>
                        <m:r>
                          <a:rPr lang="en-US" sz="1800" b="1" i="1" dirty="0">
                            <a:solidFill>
                              <a:srgbClr val="666666"/>
                            </a:solidFill>
                            <a:latin typeface="Cambria Math" panose="02040503050406030204" pitchFamily="18" charset="0"/>
                          </a:rPr>
                          <m:t>𝒋</m:t>
                        </m:r>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r>
                          <m:rPr>
                            <m:nor/>
                          </m:rPr>
                          <a:rPr lang="en-IN" sz="1800" b="1" dirty="0">
                            <a:solidFill>
                              <a:srgbClr val="666666"/>
                            </a:solidFill>
                            <a:latin typeface="inherit"/>
                          </a:rPr>
                          <m:t>R</m:t>
                        </m:r>
                        <m:r>
                          <m:rPr>
                            <m:nor/>
                          </m:rPr>
                          <a:rPr lang="en-IN" sz="1800" b="1" dirty="0">
                            <a:solidFill>
                              <a:srgbClr val="666666"/>
                            </a:solidFill>
                            <a:latin typeface="inherit"/>
                          </a:rPr>
                          <m:t>3</m:t>
                        </m:r>
                      </m:den>
                    </m:f>
                  </m:oMath>
                </a14:m>
                <a:endParaRPr lang="en-IN" sz="1800" b="1" dirty="0">
                  <a:solidFill>
                    <a:srgbClr val="666666"/>
                  </a:solidFill>
                  <a:latin typeface="inherit"/>
                </a:endParaRPr>
              </a:p>
              <a:p>
                <a:pPr marL="0" indent="0">
                  <a:buNone/>
                </a:pPr>
                <a:r>
                  <a:rPr lang="en-US" sz="1800" b="1" dirty="0">
                    <a:solidFill>
                      <a:srgbClr val="666666"/>
                    </a:solidFill>
                  </a:rPr>
                  <a:t>                                                                              </a:t>
                </a:r>
                <a14:m>
                  <m:oMath xmlns:m="http://schemas.openxmlformats.org/officeDocument/2006/math">
                    <m:f>
                      <m:fPr>
                        <m:ctrlPr>
                          <a:rPr lang="en-US" sz="1800" b="1" i="1">
                            <a:solidFill>
                              <a:srgbClr val="666666"/>
                            </a:solidFill>
                            <a:latin typeface="Cambria Math" panose="02040503050406030204" pitchFamily="18" charset="0"/>
                          </a:rPr>
                        </m:ctrlPr>
                      </m:fPr>
                      <m:num>
                        <m:r>
                          <m:rPr>
                            <m:nor/>
                          </m:rPr>
                          <a:rPr lang="en-IN" sz="1800" b="1" dirty="0">
                            <a:solidFill>
                              <a:srgbClr val="666666"/>
                            </a:solidFill>
                            <a:latin typeface="inherit"/>
                          </a:rPr>
                          <m:t>R</m:t>
                        </m:r>
                        <m:r>
                          <m:rPr>
                            <m:nor/>
                          </m:rPr>
                          <a:rPr lang="en-IN" sz="1800" b="1" dirty="0">
                            <a:solidFill>
                              <a:srgbClr val="666666"/>
                            </a:solidFill>
                            <a:latin typeface="inherit"/>
                          </a:rPr>
                          <m:t>4</m:t>
                        </m:r>
                      </m:num>
                      <m:den>
                        <m:r>
                          <m:rPr>
                            <m:nor/>
                          </m:rPr>
                          <a:rPr lang="el-GR" sz="1800" b="1" dirty="0">
                            <a:solidFill>
                              <a:srgbClr val="666666"/>
                            </a:solidFill>
                            <a:latin typeface="inherit"/>
                          </a:rPr>
                          <m:t>ω</m:t>
                        </m:r>
                        <m:r>
                          <m:rPr>
                            <m:nor/>
                          </m:rPr>
                          <a:rPr lang="en-IN" sz="1800" b="1" dirty="0">
                            <a:solidFill>
                              <a:srgbClr val="666666"/>
                            </a:solidFill>
                            <a:latin typeface="inherit"/>
                          </a:rPr>
                          <m:t>C</m:t>
                        </m:r>
                        <m:r>
                          <m:rPr>
                            <m:nor/>
                          </m:rPr>
                          <a:rPr lang="en-IN" sz="1800" b="1" dirty="0">
                            <a:solidFill>
                              <a:srgbClr val="666666"/>
                            </a:solidFill>
                            <a:latin typeface="inherit"/>
                          </a:rPr>
                          <m:t>1</m:t>
                        </m:r>
                        <m:r>
                          <m:rPr>
                            <m:nor/>
                          </m:rPr>
                          <a:rPr lang="en-IN" sz="1800" b="1" dirty="0">
                            <a:solidFill>
                              <a:srgbClr val="666666"/>
                            </a:solidFill>
                            <a:latin typeface="inherit"/>
                          </a:rPr>
                          <m:t>R</m:t>
                        </m:r>
                        <m:r>
                          <m:rPr>
                            <m:nor/>
                          </m:rPr>
                          <a:rPr lang="en-IN" sz="1800" b="1" dirty="0">
                            <a:solidFill>
                              <a:srgbClr val="666666"/>
                            </a:solidFill>
                            <a:latin typeface="inherit"/>
                          </a:rPr>
                          <m:t>3</m:t>
                        </m:r>
                      </m:den>
                    </m:f>
                    <m:r>
                      <a:rPr lang="en-US" sz="1800" b="1" i="1" dirty="0" smtClean="0">
                        <a:solidFill>
                          <a:srgbClr val="666666"/>
                        </a:solidFill>
                        <a:latin typeface="Cambria Math" panose="02040503050406030204" pitchFamily="18" charset="0"/>
                      </a:rPr>
                      <m:t>=</m:t>
                    </m:r>
                  </m:oMath>
                </a14:m>
                <a:r>
                  <a:rPr lang="el-GR" sz="1800" b="1" dirty="0">
                    <a:solidFill>
                      <a:srgbClr val="666666"/>
                    </a:solidFill>
                  </a:rPr>
                  <a:t> </a:t>
                </a:r>
                <a14:m>
                  <m:oMath xmlns:m="http://schemas.openxmlformats.org/officeDocument/2006/math">
                    <m:r>
                      <m:rPr>
                        <m:nor/>
                      </m:rPr>
                      <a:rPr lang="el-GR" sz="1800" b="1" dirty="0">
                        <a:solidFill>
                          <a:srgbClr val="666666"/>
                        </a:solidFill>
                        <a:latin typeface="inherit"/>
                      </a:rPr>
                      <m:t>ω</m:t>
                    </m:r>
                    <m:r>
                      <m:rPr>
                        <m:nor/>
                      </m:rPr>
                      <a:rPr lang="en-IN" sz="1800" b="1" dirty="0">
                        <a:solidFill>
                          <a:srgbClr val="666666"/>
                        </a:solidFill>
                        <a:latin typeface="inherit"/>
                      </a:rPr>
                      <m:t>C</m:t>
                    </m:r>
                    <m:r>
                      <a:rPr lang="en-US" sz="1800" b="1" i="1" dirty="0">
                        <a:solidFill>
                          <a:srgbClr val="666666"/>
                        </a:solidFill>
                        <a:latin typeface="Cambria Math" panose="02040503050406030204" pitchFamily="18" charset="0"/>
                      </a:rPr>
                      <m:t>𝟑</m:t>
                    </m:r>
                    <m:r>
                      <a:rPr lang="en-US" sz="1800" b="1" i="1">
                        <a:solidFill>
                          <a:srgbClr val="666666"/>
                        </a:solidFill>
                        <a:latin typeface="Cambria Math" panose="02040503050406030204" pitchFamily="18" charset="0"/>
                      </a:rPr>
                      <m:t>𝑹</m:t>
                    </m:r>
                    <m:r>
                      <a:rPr lang="en-US" sz="1800" b="1" i="1">
                        <a:solidFill>
                          <a:srgbClr val="666666"/>
                        </a:solidFill>
                        <a:latin typeface="Cambria Math" panose="02040503050406030204" pitchFamily="18" charset="0"/>
                      </a:rPr>
                      <m:t>𝟏</m:t>
                    </m:r>
                    <m:r>
                      <m:rPr>
                        <m:nor/>
                      </m:rPr>
                      <a:rPr lang="en-IN" sz="1800" b="1" dirty="0">
                        <a:solidFill>
                          <a:srgbClr val="666666"/>
                        </a:solidFill>
                        <a:latin typeface="inherit"/>
                      </a:rPr>
                      <m:t>R</m:t>
                    </m:r>
                  </m:oMath>
                </a14:m>
                <a:r>
                  <a:rPr lang="en-US" sz="1800" b="1" dirty="0">
                    <a:solidFill>
                      <a:srgbClr val="666666"/>
                    </a:solidFill>
                    <a:latin typeface="inherit"/>
                  </a:rPr>
                  <a:t>4</a:t>
                </a:r>
              </a:p>
              <a:p>
                <a:pPr marL="0" indent="0">
                  <a:buNone/>
                </a:pPr>
                <a14:m>
                  <m:oMathPara xmlns:m="http://schemas.openxmlformats.org/officeDocument/2006/math">
                    <m:oMathParaPr>
                      <m:jc m:val="centerGroup"/>
                    </m:oMathParaPr>
                    <m:oMath xmlns:m="http://schemas.openxmlformats.org/officeDocument/2006/math">
                      <m:sSup>
                        <m:sSupPr>
                          <m:ctrlPr>
                            <a:rPr lang="en-IN" sz="1800" b="1" i="1" smtClean="0">
                              <a:solidFill>
                                <a:srgbClr val="666666"/>
                              </a:solidFill>
                              <a:latin typeface="Cambria Math" panose="02040503050406030204" pitchFamily="18" charset="0"/>
                            </a:rPr>
                          </m:ctrlPr>
                        </m:sSupPr>
                        <m:e>
                          <m:r>
                            <m:rPr>
                              <m:nor/>
                            </m:rPr>
                            <a:rPr lang="el-GR" sz="1800" b="1" dirty="0">
                              <a:solidFill>
                                <a:srgbClr val="666666"/>
                              </a:solidFill>
                              <a:latin typeface="inherit"/>
                            </a:rPr>
                            <m:t>ω</m:t>
                          </m:r>
                        </m:e>
                        <m:sup>
                          <m:r>
                            <a:rPr lang="en-US" sz="1800" b="1" i="1" smtClean="0">
                              <a:solidFill>
                                <a:srgbClr val="666666"/>
                              </a:solidFill>
                              <a:latin typeface="Cambria Math" panose="02040503050406030204" pitchFamily="18" charset="0"/>
                            </a:rPr>
                            <m:t>𝟐</m:t>
                          </m:r>
                        </m:sup>
                      </m:sSup>
                      <m:r>
                        <a:rPr lang="en-US" sz="1800" b="1" i="1" smtClean="0">
                          <a:solidFill>
                            <a:srgbClr val="666666"/>
                          </a:solidFill>
                          <a:latin typeface="Cambria Math" panose="02040503050406030204" pitchFamily="18" charset="0"/>
                        </a:rPr>
                        <m:t>=</m:t>
                      </m:r>
                      <m:f>
                        <m:fPr>
                          <m:ctrlPr>
                            <a:rPr lang="en-US" sz="1800" b="1" i="1" smtClean="0">
                              <a:solidFill>
                                <a:srgbClr val="666666"/>
                              </a:solidFill>
                              <a:latin typeface="Cambria Math" panose="02040503050406030204" pitchFamily="18" charset="0"/>
                            </a:rPr>
                          </m:ctrlPr>
                        </m:fPr>
                        <m:num>
                          <m:r>
                            <a:rPr lang="en-US" sz="1800" b="1" i="1" smtClean="0">
                              <a:solidFill>
                                <a:srgbClr val="666666"/>
                              </a:solidFill>
                              <a:latin typeface="Cambria Math" panose="02040503050406030204" pitchFamily="18" charset="0"/>
                            </a:rPr>
                            <m:t>𝟏</m:t>
                          </m:r>
                        </m:num>
                        <m:den>
                          <m:r>
                            <a:rPr lang="en-US" sz="1800" b="1" i="1" smtClean="0">
                              <a:solidFill>
                                <a:srgbClr val="666666"/>
                              </a:solidFill>
                              <a:latin typeface="Cambria Math" panose="02040503050406030204" pitchFamily="18" charset="0"/>
                            </a:rPr>
                            <m:t>𝑪</m:t>
                          </m:r>
                          <m:r>
                            <a:rPr lang="en-US" sz="1800" b="1" i="1" smtClean="0">
                              <a:solidFill>
                                <a:srgbClr val="666666"/>
                              </a:solidFill>
                              <a:latin typeface="Cambria Math" panose="02040503050406030204" pitchFamily="18" charset="0"/>
                            </a:rPr>
                            <m:t>𝟏</m:t>
                          </m:r>
                          <m:r>
                            <a:rPr lang="en-US" sz="1800" b="1" i="1" smtClean="0">
                              <a:solidFill>
                                <a:srgbClr val="666666"/>
                              </a:solidFill>
                              <a:latin typeface="Cambria Math" panose="02040503050406030204" pitchFamily="18" charset="0"/>
                            </a:rPr>
                            <m:t>𝑹</m:t>
                          </m:r>
                          <m:r>
                            <a:rPr lang="en-US" sz="1800" b="1" i="1" smtClean="0">
                              <a:solidFill>
                                <a:srgbClr val="666666"/>
                              </a:solidFill>
                              <a:latin typeface="Cambria Math" panose="02040503050406030204" pitchFamily="18" charset="0"/>
                            </a:rPr>
                            <m:t>𝟏</m:t>
                          </m:r>
                          <m:r>
                            <a:rPr lang="en-US" sz="1800" b="1" i="1" smtClean="0">
                              <a:solidFill>
                                <a:srgbClr val="666666"/>
                              </a:solidFill>
                              <a:latin typeface="Cambria Math" panose="02040503050406030204" pitchFamily="18" charset="0"/>
                            </a:rPr>
                            <m:t>𝑪</m:t>
                          </m:r>
                          <m:r>
                            <a:rPr lang="en-US" sz="1800" b="1" i="1" smtClean="0">
                              <a:solidFill>
                                <a:srgbClr val="666666"/>
                              </a:solidFill>
                              <a:latin typeface="Cambria Math" panose="02040503050406030204" pitchFamily="18" charset="0"/>
                            </a:rPr>
                            <m:t>𝟑</m:t>
                          </m:r>
                          <m:r>
                            <a:rPr lang="en-US" sz="1800" b="1" i="1" smtClean="0">
                              <a:solidFill>
                                <a:srgbClr val="666666"/>
                              </a:solidFill>
                              <a:latin typeface="Cambria Math" panose="02040503050406030204" pitchFamily="18" charset="0"/>
                            </a:rPr>
                            <m:t>𝑹</m:t>
                          </m:r>
                          <m:r>
                            <a:rPr lang="en-US" sz="1800" b="1" i="1" smtClean="0">
                              <a:solidFill>
                                <a:srgbClr val="666666"/>
                              </a:solidFill>
                              <a:latin typeface="Cambria Math" panose="02040503050406030204" pitchFamily="18" charset="0"/>
                            </a:rPr>
                            <m:t>𝟑</m:t>
                          </m:r>
                        </m:den>
                      </m:f>
                    </m:oMath>
                  </m:oMathPara>
                </a14:m>
                <a:endParaRPr lang="en-IN" sz="1800" b="1" dirty="0">
                  <a:solidFill>
                    <a:srgbClr val="666666"/>
                  </a:solidFill>
                  <a:latin typeface="inherit"/>
                </a:endParaRPr>
              </a:p>
              <a:p>
                <a:endParaRPr lang="en-IN" sz="1800" b="1" dirty="0">
                  <a:solidFill>
                    <a:srgbClr val="666666"/>
                  </a:solidFill>
                  <a:latin typeface="inherit"/>
                </a:endParaRPr>
              </a:p>
              <a:p>
                <a:endParaRPr lang="en-IN" sz="1800" b="1" dirty="0">
                  <a:solidFill>
                    <a:srgbClr val="666666"/>
                  </a:solidFill>
                  <a:latin typeface="inherit"/>
                </a:endParaRPr>
              </a:p>
              <a:p>
                <a:endParaRPr lang="en-IN" sz="1800" dirty="0"/>
              </a:p>
            </p:txBody>
          </p:sp>
        </mc:Choice>
        <mc:Fallback xmlns="">
          <p:sp>
            <p:nvSpPr>
              <p:cNvPr id="3" name="Content Placeholder 2">
                <a:extLst>
                  <a:ext uri="{FF2B5EF4-FFF2-40B4-BE49-F238E27FC236}">
                    <a16:creationId xmlns:a16="http://schemas.microsoft.com/office/drawing/2014/main" id="{651E5820-2793-4566-A218-2E9BA0F199F2}"/>
                  </a:ext>
                </a:extLst>
              </p:cNvPr>
              <p:cNvSpPr>
                <a:spLocks noGrp="1" noRot="1" noChangeAspect="1" noMove="1" noResize="1" noEditPoints="1" noAdjustHandles="1" noChangeArrowheads="1" noChangeShapeType="1" noTextEdit="1"/>
              </p:cNvSpPr>
              <p:nvPr>
                <p:ph idx="1"/>
              </p:nvPr>
            </p:nvSpPr>
            <p:spPr>
              <a:xfrm>
                <a:off x="838200" y="307910"/>
                <a:ext cx="10515600" cy="6279502"/>
              </a:xfrm>
              <a:blipFill>
                <a:blip r:embed="rId2"/>
                <a:stretch>
                  <a:fillRect t="-1359"/>
                </a:stretch>
              </a:blipFill>
            </p:spPr>
            <p:txBody>
              <a:bodyPr/>
              <a:lstStyle/>
              <a:p>
                <a:r>
                  <a:rPr lang="en-IN">
                    <a:noFill/>
                  </a:rPr>
                  <a:t> </a:t>
                </a:r>
              </a:p>
            </p:txBody>
          </p:sp>
        </mc:Fallback>
      </mc:AlternateContent>
    </p:spTree>
    <p:extLst>
      <p:ext uri="{BB962C8B-B14F-4D97-AF65-F5344CB8AC3E}">
        <p14:creationId xmlns:p14="http://schemas.microsoft.com/office/powerpoint/2010/main" val="25404835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8E8C733-0812-476A-80E8-1861F00C9F04}"/>
                  </a:ext>
                </a:extLst>
              </p:cNvPr>
              <p:cNvSpPr>
                <a:spLocks noGrp="1"/>
              </p:cNvSpPr>
              <p:nvPr>
                <p:ph idx="1"/>
              </p:nvPr>
            </p:nvSpPr>
            <p:spPr>
              <a:xfrm>
                <a:off x="838200" y="783771"/>
                <a:ext cx="10515600" cy="5393192"/>
              </a:xfrm>
            </p:spPr>
            <p:txBody>
              <a:bodyPr>
                <a:normAutofit/>
              </a:bodyPr>
              <a:lstStyle/>
              <a:p>
                <a:pPr marL="0" indent="0">
                  <a:buNone/>
                </a:pPr>
                <a:r>
                  <a:rPr lang="en-US" sz="1800" dirty="0"/>
                  <a:t>                                                                             f=</a:t>
                </a:r>
                <a14:m>
                  <m:oMath xmlns:m="http://schemas.openxmlformats.org/officeDocument/2006/math">
                    <m:f>
                      <m:fPr>
                        <m:ctrlPr>
                          <a:rPr lang="en-US" sz="180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𝜋</m:t>
                        </m:r>
                        <m:rad>
                          <m:radPr>
                            <m:degHide m:val="on"/>
                            <m:ctrlPr>
                              <a:rPr lang="en-US" sz="1800" b="0" i="1" smtClean="0">
                                <a:latin typeface="Cambria Math" panose="02040503050406030204" pitchFamily="18" charset="0"/>
                                <a:ea typeface="Cambria Math" panose="02040503050406030204" pitchFamily="18" charset="0"/>
                              </a:rPr>
                            </m:ctrlPr>
                          </m:radPr>
                          <m:deg/>
                          <m:e>
                            <m:r>
                              <a:rPr lang="en-US" sz="1800" b="0" i="1" smtClean="0">
                                <a:latin typeface="Cambria Math" panose="02040503050406030204" pitchFamily="18" charset="0"/>
                                <a:ea typeface="Cambria Math" panose="02040503050406030204" pitchFamily="18" charset="0"/>
                              </a:rPr>
                              <m:t>𝑅</m:t>
                            </m:r>
                            <m:r>
                              <a:rPr lang="en-US" sz="1800" b="0" i="1" smtClean="0">
                                <a:latin typeface="Cambria Math" panose="02040503050406030204" pitchFamily="18" charset="0"/>
                                <a:ea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𝐶</m:t>
                            </m:r>
                            <m:r>
                              <a:rPr lang="en-US" sz="1800" b="0" i="1" smtClean="0">
                                <a:latin typeface="Cambria Math" panose="02040503050406030204" pitchFamily="18" charset="0"/>
                                <a:ea typeface="Cambria Math" panose="02040503050406030204" pitchFamily="18" charset="0"/>
                              </a:rPr>
                              <m:t>1</m:t>
                            </m:r>
                            <m:r>
                              <a:rPr lang="en-US" sz="1800" b="0" i="1" smtClean="0">
                                <a:latin typeface="Cambria Math" panose="02040503050406030204" pitchFamily="18" charset="0"/>
                                <a:ea typeface="Cambria Math" panose="02040503050406030204" pitchFamily="18" charset="0"/>
                              </a:rPr>
                              <m:t>𝑅</m:t>
                            </m:r>
                            <m:r>
                              <a:rPr lang="en-US" sz="1800" b="0" i="1" smtClean="0">
                                <a:latin typeface="Cambria Math" panose="02040503050406030204" pitchFamily="18" charset="0"/>
                                <a:ea typeface="Cambria Math" panose="02040503050406030204" pitchFamily="18" charset="0"/>
                              </a:rPr>
                              <m:t>3</m:t>
                            </m:r>
                            <m:r>
                              <a:rPr lang="en-US" sz="1800" b="0" i="1" smtClean="0">
                                <a:latin typeface="Cambria Math" panose="02040503050406030204" pitchFamily="18" charset="0"/>
                                <a:ea typeface="Cambria Math" panose="02040503050406030204" pitchFamily="18" charset="0"/>
                              </a:rPr>
                              <m:t>𝐶</m:t>
                            </m:r>
                            <m:r>
                              <a:rPr lang="en-US" sz="1800" b="0" i="1" smtClean="0">
                                <a:latin typeface="Cambria Math" panose="02040503050406030204" pitchFamily="18" charset="0"/>
                                <a:ea typeface="Cambria Math" panose="02040503050406030204" pitchFamily="18" charset="0"/>
                              </a:rPr>
                              <m:t>3</m:t>
                            </m:r>
                          </m:e>
                        </m:rad>
                      </m:den>
                    </m:f>
                  </m:oMath>
                </a14:m>
                <a:endParaRPr lang="en-US" sz="1800" dirty="0"/>
              </a:p>
              <a:p>
                <a:pPr marL="0" indent="0">
                  <a:buNone/>
                </a:pPr>
                <a:endParaRPr lang="en-US" sz="1800" dirty="0"/>
              </a:p>
              <a:p>
                <a:pPr marL="0" indent="0">
                  <a:buNone/>
                </a:pPr>
                <a:r>
                  <a:rPr lang="en-IN" sz="1800" dirty="0"/>
                  <a:t>                                                                          If we assume C1=C3=C; R1=R3=R</a:t>
                </a:r>
              </a:p>
              <a:p>
                <a:pPr marL="0" indent="0">
                  <a:buNone/>
                </a:pPr>
                <a:endParaRPr lang="en-IN" sz="1800" dirty="0"/>
              </a:p>
              <a:p>
                <a:pPr marL="0" indent="0">
                  <a:buNone/>
                </a:pPr>
                <a:r>
                  <a:rPr lang="en-IN" sz="1800" dirty="0"/>
                  <a:t>                                                                              f=</a:t>
                </a:r>
                <a:r>
                  <a:rPr lang="en-US" sz="1800" dirty="0"/>
                  <a:t>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2</m:t>
                        </m:r>
                        <m:r>
                          <a:rPr lang="en-US" sz="1800" i="1">
                            <a:latin typeface="Cambria Math" panose="02040503050406030204" pitchFamily="18" charset="0"/>
                            <a:ea typeface="Cambria Math" panose="02040503050406030204" pitchFamily="18" charset="0"/>
                          </a:rPr>
                          <m:t>𝜋</m:t>
                        </m:r>
                        <m:rad>
                          <m:radPr>
                            <m:degHide m:val="on"/>
                            <m:ctrlPr>
                              <a:rPr lang="en-US" sz="1800" i="1" smtClean="0">
                                <a:latin typeface="Cambria Math" panose="02040503050406030204" pitchFamily="18" charset="0"/>
                                <a:ea typeface="Cambria Math" panose="02040503050406030204" pitchFamily="18" charset="0"/>
                              </a:rPr>
                            </m:ctrlPr>
                          </m:radPr>
                          <m:deg/>
                          <m:e>
                            <m:sSup>
                              <m:sSupPr>
                                <m:ctrlPr>
                                  <a:rPr lang="en-US" sz="180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𝑅</m:t>
                                </m:r>
                              </m:e>
                              <m:sup>
                                <m:r>
                                  <a:rPr lang="en-US" sz="1800" b="0" i="1" smtClean="0">
                                    <a:latin typeface="Cambria Math" panose="02040503050406030204" pitchFamily="18" charset="0"/>
                                    <a:ea typeface="Cambria Math" panose="02040503050406030204" pitchFamily="18" charset="0"/>
                                  </a:rPr>
                                  <m:t>2</m:t>
                                </m:r>
                              </m:sup>
                            </m:sSup>
                            <m:sSup>
                              <m:sSupPr>
                                <m:ctrlPr>
                                  <a:rPr lang="en-US" sz="1800" i="1" smtClean="0">
                                    <a:latin typeface="Cambria Math" panose="02040503050406030204" pitchFamily="18" charset="0"/>
                                    <a:ea typeface="Cambria Math" panose="02040503050406030204" pitchFamily="18" charset="0"/>
                                  </a:rPr>
                                </m:ctrlPr>
                              </m:sSupPr>
                              <m:e>
                                <m:r>
                                  <a:rPr lang="en-US" sz="1800" b="0" i="1" smtClean="0">
                                    <a:latin typeface="Cambria Math" panose="02040503050406030204" pitchFamily="18" charset="0"/>
                                    <a:ea typeface="Cambria Math" panose="02040503050406030204" pitchFamily="18" charset="0"/>
                                  </a:rPr>
                                  <m:t>𝐶</m:t>
                                </m:r>
                              </m:e>
                              <m:sup>
                                <m:r>
                                  <a:rPr lang="en-US" sz="1800" b="0" i="1" smtClean="0">
                                    <a:latin typeface="Cambria Math" panose="02040503050406030204" pitchFamily="18" charset="0"/>
                                    <a:ea typeface="Cambria Math" panose="02040503050406030204" pitchFamily="18" charset="0"/>
                                  </a:rPr>
                                  <m:t>2</m:t>
                                </m:r>
                              </m:sup>
                            </m:sSup>
                          </m:e>
                        </m:rad>
                      </m:den>
                    </m:f>
                  </m:oMath>
                </a14:m>
                <a:endParaRPr lang="en-US" sz="1800" dirty="0">
                  <a:ea typeface="Cambria Math" panose="02040503050406030204" pitchFamily="18" charset="0"/>
                </a:endParaRPr>
              </a:p>
              <a:p>
                <a:pPr marL="0" indent="0">
                  <a:buNone/>
                </a:pPr>
                <a:endParaRPr lang="en-US" sz="1800" dirty="0">
                  <a:ea typeface="Cambria Math" panose="02040503050406030204" pitchFamily="18" charset="0"/>
                </a:endParaRPr>
              </a:p>
              <a:p>
                <a:pPr marL="0" indent="0">
                  <a:buNone/>
                </a:pPr>
                <a:r>
                  <a:rPr lang="en-IN" sz="1800" dirty="0"/>
                  <a:t>                                                                                    f=</a:t>
                </a:r>
                <a14:m>
                  <m:oMath xmlns:m="http://schemas.openxmlformats.org/officeDocument/2006/math">
                    <m:f>
                      <m:fPr>
                        <m:ctrlPr>
                          <a:rPr lang="en-IN" sz="180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2</m:t>
                        </m:r>
                        <m:r>
                          <a:rPr lang="en-US" sz="1800" b="0" i="1" smtClean="0">
                            <a:latin typeface="Cambria Math" panose="02040503050406030204" pitchFamily="18" charset="0"/>
                            <a:ea typeface="Cambria Math" panose="02040503050406030204" pitchFamily="18" charset="0"/>
                          </a:rPr>
                          <m:t>𝜋</m:t>
                        </m:r>
                        <m:r>
                          <a:rPr lang="en-US" sz="1800" b="0" i="1" smtClean="0">
                            <a:latin typeface="Cambria Math" panose="02040503050406030204" pitchFamily="18" charset="0"/>
                            <a:ea typeface="Cambria Math" panose="02040503050406030204" pitchFamily="18" charset="0"/>
                          </a:rPr>
                          <m:t>𝑅𝐶</m:t>
                        </m:r>
                      </m:den>
                    </m:f>
                  </m:oMath>
                </a14:m>
                <a:endParaRPr lang="en-IN" sz="1800" dirty="0"/>
              </a:p>
            </p:txBody>
          </p:sp>
        </mc:Choice>
        <mc:Fallback xmlns="">
          <p:sp>
            <p:nvSpPr>
              <p:cNvPr id="3" name="Content Placeholder 2">
                <a:extLst>
                  <a:ext uri="{FF2B5EF4-FFF2-40B4-BE49-F238E27FC236}">
                    <a16:creationId xmlns:a16="http://schemas.microsoft.com/office/drawing/2014/main" id="{C8E8C733-0812-476A-80E8-1861F00C9F04}"/>
                  </a:ext>
                </a:extLst>
              </p:cNvPr>
              <p:cNvSpPr>
                <a:spLocks noGrp="1" noRot="1" noChangeAspect="1" noMove="1" noResize="1" noEditPoints="1" noAdjustHandles="1" noChangeArrowheads="1" noChangeShapeType="1" noTextEdit="1"/>
              </p:cNvSpPr>
              <p:nvPr>
                <p:ph idx="1"/>
              </p:nvPr>
            </p:nvSpPr>
            <p:spPr>
              <a:xfrm>
                <a:off x="838200" y="783771"/>
                <a:ext cx="10515600" cy="5393192"/>
              </a:xfrm>
              <a:blipFill>
                <a:blip r:embed="rId2"/>
                <a:stretch>
                  <a:fillRect t="-113"/>
                </a:stretch>
              </a:blipFill>
            </p:spPr>
            <p:txBody>
              <a:bodyPr/>
              <a:lstStyle/>
              <a:p>
                <a:r>
                  <a:rPr lang="en-IN">
                    <a:noFill/>
                  </a:rPr>
                  <a:t> </a:t>
                </a:r>
              </a:p>
            </p:txBody>
          </p:sp>
        </mc:Fallback>
      </mc:AlternateContent>
    </p:spTree>
    <p:extLst>
      <p:ext uri="{BB962C8B-B14F-4D97-AF65-F5344CB8AC3E}">
        <p14:creationId xmlns:p14="http://schemas.microsoft.com/office/powerpoint/2010/main" val="21410591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744911-A1CA-409B-820F-AF229E218130}"/>
              </a:ext>
            </a:extLst>
          </p:cNvPr>
          <p:cNvSpPr/>
          <p:nvPr/>
        </p:nvSpPr>
        <p:spPr>
          <a:xfrm>
            <a:off x="223935" y="242597"/>
            <a:ext cx="11784563" cy="6740307"/>
          </a:xfrm>
          <a:prstGeom prst="rect">
            <a:avLst/>
          </a:prstGeom>
        </p:spPr>
        <p:txBody>
          <a:bodyPr wrap="square">
            <a:spAutoFit/>
          </a:bodyPr>
          <a:lstStyle/>
          <a:p>
            <a:pPr algn="just" fontAlgn="base"/>
            <a:r>
              <a:rPr lang="en-US" b="1" dirty="0">
                <a:solidFill>
                  <a:srgbClr val="000000"/>
                </a:solidFill>
                <a:latin typeface="Arial" panose="020B0604020202020204" pitchFamily="34" charset="0"/>
              </a:rPr>
              <a:t>Applications of Wien Bridge Oscillators</a:t>
            </a:r>
          </a:p>
          <a:p>
            <a:pPr algn="just" fontAlgn="base">
              <a:buFont typeface="Arial" panose="020B0604020202020204" pitchFamily="34" charset="0"/>
              <a:buChar char="•"/>
            </a:pPr>
            <a:r>
              <a:rPr lang="en-US" dirty="0">
                <a:solidFill>
                  <a:srgbClr val="666666"/>
                </a:solidFill>
                <a:latin typeface="Arial" panose="020B0604020202020204" pitchFamily="34" charset="0"/>
              </a:rPr>
              <a:t>It is used to measure the audio frequency.</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Wien bridge oscillator designs the long range of frequencies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It produces sine wave.</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r>
              <a:rPr lang="en-US" b="1" dirty="0">
                <a:solidFill>
                  <a:srgbClr val="000000"/>
                </a:solidFill>
                <a:latin typeface="Arial" panose="020B0604020202020204" pitchFamily="34" charset="0"/>
              </a:rPr>
              <a:t>Advantages</a:t>
            </a:r>
          </a:p>
          <a:p>
            <a:pPr fontAlgn="base">
              <a:buFont typeface="Arial" panose="020B0604020202020204" pitchFamily="34" charset="0"/>
              <a:buChar char="•"/>
            </a:pPr>
            <a:r>
              <a:rPr lang="en-US" dirty="0">
                <a:solidFill>
                  <a:srgbClr val="666666"/>
                </a:solidFill>
                <a:latin typeface="Arial" panose="020B0604020202020204" pitchFamily="34" charset="0"/>
              </a:rPr>
              <a:t>Distortion testing of power amplifier.</a:t>
            </a:r>
          </a:p>
          <a:p>
            <a:pPr fontAlgn="base">
              <a:buFont typeface="Arial" panose="020B0604020202020204" pitchFamily="34" charset="0"/>
              <a:buChar char="•"/>
            </a:pPr>
            <a:endParaRPr lang="en-US" dirty="0">
              <a:solidFill>
                <a:srgbClr val="666666"/>
              </a:solidFill>
              <a:latin typeface="Arial" panose="020B0604020202020204" pitchFamily="34" charset="0"/>
            </a:endParaRPr>
          </a:p>
          <a:p>
            <a:pPr fontAlgn="base">
              <a:buFont typeface="Arial" panose="020B0604020202020204" pitchFamily="34" charset="0"/>
              <a:buChar char="•"/>
            </a:pPr>
            <a:r>
              <a:rPr lang="en-US" dirty="0">
                <a:solidFill>
                  <a:srgbClr val="666666"/>
                </a:solidFill>
                <a:latin typeface="Arial" panose="020B0604020202020204" pitchFamily="34" charset="0"/>
              </a:rPr>
              <a:t>It supplies the signals for testing filters.</a:t>
            </a:r>
          </a:p>
          <a:p>
            <a:pPr fontAlgn="base">
              <a:buFont typeface="Arial" panose="020B0604020202020204" pitchFamily="34" charset="0"/>
              <a:buChar char="•"/>
            </a:pPr>
            <a:endParaRPr lang="en-US" dirty="0">
              <a:solidFill>
                <a:srgbClr val="666666"/>
              </a:solidFill>
              <a:latin typeface="Arial" panose="020B0604020202020204" pitchFamily="34" charset="0"/>
            </a:endParaRPr>
          </a:p>
          <a:p>
            <a:pPr fontAlgn="base">
              <a:buFont typeface="Arial" panose="020B0604020202020204" pitchFamily="34" charset="0"/>
              <a:buChar char="•"/>
            </a:pPr>
            <a:r>
              <a:rPr lang="en-US" dirty="0">
                <a:solidFill>
                  <a:srgbClr val="666666"/>
                </a:solidFill>
                <a:latin typeface="Arial" panose="020B0604020202020204" pitchFamily="34" charset="0"/>
              </a:rPr>
              <a:t>Excitation for AC Bridge.</a:t>
            </a:r>
          </a:p>
          <a:p>
            <a:pPr fontAlgn="base">
              <a:buFont typeface="Arial" panose="020B0604020202020204" pitchFamily="34" charset="0"/>
              <a:buChar char="•"/>
            </a:pPr>
            <a:endParaRPr lang="en-US" dirty="0">
              <a:solidFill>
                <a:srgbClr val="666666"/>
              </a:solidFill>
              <a:latin typeface="Arial" panose="020B0604020202020204" pitchFamily="34" charset="0"/>
            </a:endParaRPr>
          </a:p>
          <a:p>
            <a:pPr fontAlgn="base">
              <a:buFont typeface="Arial" panose="020B0604020202020204" pitchFamily="34" charset="0"/>
              <a:buChar char="•"/>
            </a:pPr>
            <a:r>
              <a:rPr lang="en-US" dirty="0">
                <a:solidFill>
                  <a:srgbClr val="666666"/>
                </a:solidFill>
                <a:latin typeface="Arial" panose="020B0604020202020204" pitchFamily="34" charset="0"/>
              </a:rPr>
              <a:t>To fabricate pure tune.</a:t>
            </a:r>
          </a:p>
          <a:p>
            <a:pPr fontAlgn="base">
              <a:buFont typeface="Arial" panose="020B0604020202020204" pitchFamily="34" charset="0"/>
              <a:buChar char="•"/>
            </a:pPr>
            <a:endParaRPr lang="en-US" dirty="0">
              <a:solidFill>
                <a:srgbClr val="666666"/>
              </a:solidFill>
              <a:latin typeface="Arial" panose="020B0604020202020204" pitchFamily="34" charset="0"/>
            </a:endParaRPr>
          </a:p>
          <a:p>
            <a:pPr fontAlgn="base">
              <a:buFont typeface="Arial" panose="020B0604020202020204" pitchFamily="34" charset="0"/>
              <a:buChar char="•"/>
            </a:pPr>
            <a:r>
              <a:rPr lang="en-US" dirty="0">
                <a:solidFill>
                  <a:srgbClr val="666666"/>
                </a:solidFill>
                <a:latin typeface="Arial" panose="020B0604020202020204" pitchFamily="34" charset="0"/>
              </a:rPr>
              <a:t>Long distance can be spanned by the resting beams.</a:t>
            </a:r>
          </a:p>
          <a:p>
            <a:pPr fontAlgn="base">
              <a:buFont typeface="Arial" panose="020B0604020202020204" pitchFamily="34" charset="0"/>
              <a:buChar char="•"/>
            </a:pPr>
            <a:endParaRPr lang="en-US" dirty="0">
              <a:solidFill>
                <a:srgbClr val="666666"/>
              </a:solidFill>
              <a:latin typeface="Arial" panose="020B0604020202020204" pitchFamily="34" charset="0"/>
            </a:endParaRPr>
          </a:p>
          <a:p>
            <a:pPr fontAlgn="base"/>
            <a:r>
              <a:rPr lang="en-US" b="1" dirty="0">
                <a:solidFill>
                  <a:srgbClr val="000000"/>
                </a:solidFill>
                <a:latin typeface="Arial" panose="020B0604020202020204" pitchFamily="34" charset="0"/>
              </a:rPr>
              <a:t>Disadvantages</a:t>
            </a:r>
          </a:p>
          <a:p>
            <a:pPr algn="just" fontAlgn="base">
              <a:buFont typeface="Arial" panose="020B0604020202020204" pitchFamily="34" charset="0"/>
              <a:buChar char="•"/>
            </a:pPr>
            <a:r>
              <a:rPr lang="en-US" dirty="0">
                <a:solidFill>
                  <a:srgbClr val="666666"/>
                </a:solidFill>
                <a:latin typeface="Arial" panose="020B0604020202020204" pitchFamily="34" charset="0"/>
              </a:rPr>
              <a:t>The </a:t>
            </a:r>
            <a:r>
              <a:rPr lang="en-US" dirty="0">
                <a:solidFill>
                  <a:srgbClr val="E03800"/>
                </a:solidFill>
                <a:latin typeface="inherit"/>
                <a:hlinkClick r:id="rId2"/>
              </a:rPr>
              <a:t>Wheatstone bridge</a:t>
            </a:r>
            <a:r>
              <a:rPr lang="en-US" dirty="0">
                <a:solidFill>
                  <a:srgbClr val="666666"/>
                </a:solidFill>
                <a:latin typeface="Arial" panose="020B0604020202020204" pitchFamily="34" charset="0"/>
              </a:rPr>
              <a:t> is not used for the high resistance.</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The circuit needs the high no. of other components.</a:t>
            </a:r>
          </a:p>
          <a:p>
            <a:pPr algn="just" fontAlgn="base">
              <a:buFont typeface="Arial" panose="020B0604020202020204" pitchFamily="34" charset="0"/>
              <a:buChar char="•"/>
            </a:pPr>
            <a:endParaRPr lang="en-US" dirty="0">
              <a:solidFill>
                <a:srgbClr val="666666"/>
              </a:solidFill>
              <a:latin typeface="Arial" panose="020B0604020202020204" pitchFamily="34" charset="0"/>
            </a:endParaRPr>
          </a:p>
          <a:p>
            <a:pPr algn="just" fontAlgn="base">
              <a:buFont typeface="Arial" panose="020B0604020202020204" pitchFamily="34" charset="0"/>
              <a:buChar char="•"/>
            </a:pPr>
            <a:r>
              <a:rPr lang="en-US" dirty="0">
                <a:solidFill>
                  <a:srgbClr val="666666"/>
                </a:solidFill>
                <a:latin typeface="Arial" panose="020B0604020202020204" pitchFamily="34" charset="0"/>
              </a:rPr>
              <a:t>The limited output frequency is obtained because the amplitude and the phase shift characters of the amplifier.</a:t>
            </a:r>
            <a:endParaRPr lang="en-US" b="0" i="0" dirty="0">
              <a:solidFill>
                <a:srgbClr val="666666"/>
              </a:solidFill>
              <a:effectLst/>
              <a:latin typeface="Arial" panose="020B0604020202020204" pitchFamily="34" charset="0"/>
            </a:endParaRPr>
          </a:p>
        </p:txBody>
      </p:sp>
    </p:spTree>
    <p:extLst>
      <p:ext uri="{BB962C8B-B14F-4D97-AF65-F5344CB8AC3E}">
        <p14:creationId xmlns:p14="http://schemas.microsoft.com/office/powerpoint/2010/main" val="737332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3A2D96-361E-4C17-8224-F3CB78F35F84}"/>
              </a:ext>
            </a:extLst>
          </p:cNvPr>
          <p:cNvSpPr>
            <a:spLocks noGrp="1"/>
          </p:cNvSpPr>
          <p:nvPr>
            <p:ph idx="1"/>
          </p:nvPr>
        </p:nvSpPr>
        <p:spPr>
          <a:xfrm>
            <a:off x="838200" y="326571"/>
            <a:ext cx="10515600" cy="6204858"/>
          </a:xfrm>
        </p:spPr>
        <p:txBody>
          <a:bodyPr>
            <a:normAutofit/>
          </a:bodyPr>
          <a:lstStyle/>
          <a:p>
            <a:r>
              <a:rPr lang="en-US" sz="2400" b="1" u="sng" dirty="0">
                <a:effectLst>
                  <a:outerShdw blurRad="38100" dist="38100" dir="2700000" algn="tl">
                    <a:srgbClr val="000000">
                      <a:alpha val="43137"/>
                    </a:srgbClr>
                  </a:outerShdw>
                </a:effectLst>
                <a:highlight>
                  <a:srgbClr val="800080"/>
                </a:highlight>
              </a:rPr>
              <a:t>ANDERSON BRIDGE:-</a:t>
            </a:r>
          </a:p>
          <a:p>
            <a:endParaRPr lang="en-IN" sz="2400" b="1" u="sng" dirty="0">
              <a:effectLst>
                <a:outerShdw blurRad="38100" dist="38100" dir="2700000" algn="tl">
                  <a:srgbClr val="000000">
                    <a:alpha val="43137"/>
                  </a:srgbClr>
                </a:outerShdw>
              </a:effectLst>
              <a:highlight>
                <a:srgbClr val="800080"/>
              </a:highlight>
            </a:endParaRPr>
          </a:p>
        </p:txBody>
      </p:sp>
      <p:pic>
        <p:nvPicPr>
          <p:cNvPr id="4" name="Picture 3">
            <a:extLst>
              <a:ext uri="{FF2B5EF4-FFF2-40B4-BE49-F238E27FC236}">
                <a16:creationId xmlns:a16="http://schemas.microsoft.com/office/drawing/2014/main" id="{C1EA5AF3-D91B-4AB8-B7F4-9D192B26A294}"/>
              </a:ext>
            </a:extLst>
          </p:cNvPr>
          <p:cNvPicPr>
            <a:picLocks noChangeAspect="1"/>
          </p:cNvPicPr>
          <p:nvPr/>
        </p:nvPicPr>
        <p:blipFill>
          <a:blip r:embed="rId2"/>
          <a:stretch>
            <a:fillRect/>
          </a:stretch>
        </p:blipFill>
        <p:spPr>
          <a:xfrm>
            <a:off x="2210540" y="959173"/>
            <a:ext cx="8531441" cy="5423086"/>
          </a:xfrm>
          <a:prstGeom prst="rect">
            <a:avLst/>
          </a:prstGeom>
        </p:spPr>
      </p:pic>
    </p:spTree>
    <p:extLst>
      <p:ext uri="{BB962C8B-B14F-4D97-AF65-F5344CB8AC3E}">
        <p14:creationId xmlns:p14="http://schemas.microsoft.com/office/powerpoint/2010/main" val="11747187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94EA83-5179-4CB4-A50F-E902EF31A6C7}"/>
              </a:ext>
            </a:extLst>
          </p:cNvPr>
          <p:cNvPicPr>
            <a:picLocks noChangeAspect="1"/>
          </p:cNvPicPr>
          <p:nvPr/>
        </p:nvPicPr>
        <p:blipFill>
          <a:blip r:embed="rId2"/>
          <a:stretch>
            <a:fillRect/>
          </a:stretch>
        </p:blipFill>
        <p:spPr>
          <a:xfrm>
            <a:off x="195944" y="115172"/>
            <a:ext cx="4978060" cy="2795980"/>
          </a:xfrm>
          <a:prstGeom prst="rect">
            <a:avLst/>
          </a:prstGeom>
        </p:spPr>
      </p:pic>
      <p:pic>
        <p:nvPicPr>
          <p:cNvPr id="3" name="Picture 2">
            <a:extLst>
              <a:ext uri="{FF2B5EF4-FFF2-40B4-BE49-F238E27FC236}">
                <a16:creationId xmlns:a16="http://schemas.microsoft.com/office/drawing/2014/main" id="{5B142F3C-692F-4E5D-956E-AFF1DB53C352}"/>
              </a:ext>
            </a:extLst>
          </p:cNvPr>
          <p:cNvPicPr>
            <a:picLocks noChangeAspect="1"/>
          </p:cNvPicPr>
          <p:nvPr/>
        </p:nvPicPr>
        <p:blipFill>
          <a:blip r:embed="rId3"/>
          <a:stretch>
            <a:fillRect/>
          </a:stretch>
        </p:blipFill>
        <p:spPr>
          <a:xfrm>
            <a:off x="5766318" y="149291"/>
            <a:ext cx="5069632" cy="3946848"/>
          </a:xfrm>
          <a:prstGeom prst="rect">
            <a:avLst/>
          </a:prstGeom>
        </p:spPr>
      </p:pic>
      <p:pic>
        <p:nvPicPr>
          <p:cNvPr id="4" name="Picture 3">
            <a:extLst>
              <a:ext uri="{FF2B5EF4-FFF2-40B4-BE49-F238E27FC236}">
                <a16:creationId xmlns:a16="http://schemas.microsoft.com/office/drawing/2014/main" id="{4E165AC4-46D1-46DC-AA7C-1DC81683CC28}"/>
              </a:ext>
            </a:extLst>
          </p:cNvPr>
          <p:cNvPicPr>
            <a:picLocks noChangeAspect="1"/>
          </p:cNvPicPr>
          <p:nvPr/>
        </p:nvPicPr>
        <p:blipFill>
          <a:blip r:embed="rId4"/>
          <a:stretch>
            <a:fillRect/>
          </a:stretch>
        </p:blipFill>
        <p:spPr>
          <a:xfrm>
            <a:off x="345234" y="2995127"/>
            <a:ext cx="4609321" cy="3816079"/>
          </a:xfrm>
          <a:prstGeom prst="rect">
            <a:avLst/>
          </a:prstGeom>
        </p:spPr>
      </p:pic>
    </p:spTree>
    <p:extLst>
      <p:ext uri="{BB962C8B-B14F-4D97-AF65-F5344CB8AC3E}">
        <p14:creationId xmlns:p14="http://schemas.microsoft.com/office/powerpoint/2010/main" val="29507165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F353448-D613-4DA8-BF59-1E269679AB23}"/>
                  </a:ext>
                </a:extLst>
              </p:cNvPr>
              <p:cNvSpPr>
                <a:spLocks noGrp="1"/>
              </p:cNvSpPr>
              <p:nvPr>
                <p:ph idx="1"/>
              </p:nvPr>
            </p:nvSpPr>
            <p:spPr>
              <a:xfrm>
                <a:off x="838200" y="251926"/>
                <a:ext cx="10515600" cy="6335485"/>
              </a:xfrm>
            </p:spPr>
            <p:txBody>
              <a:bodyPr>
                <a:normAutofit fontScale="92500" lnSpcReduction="20000"/>
              </a:bodyPr>
              <a:lstStyle/>
              <a:p>
                <a:pPr marL="0" indent="0">
                  <a:buNone/>
                </a:pPr>
                <a:r>
                  <a:rPr lang="en-US" sz="1800" dirty="0"/>
                  <a:t>As per delta to star transformation</a:t>
                </a:r>
              </a:p>
              <a:p>
                <a:pPr marL="0" indent="0">
                  <a:buNone/>
                </a:pPr>
                <a:r>
                  <a:rPr lang="en-IN" sz="1800" dirty="0"/>
                  <a:t>                                       </a:t>
                </a:r>
                <a14:m>
                  <m:oMath xmlns:m="http://schemas.openxmlformats.org/officeDocument/2006/math">
                    <m:sSub>
                      <m:sSubPr>
                        <m:ctrlPr>
                          <a:rPr lang="en-IN" sz="180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𝑂𝐷</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5</m:t>
                            </m:r>
                          </m:sub>
                        </m:sSub>
                      </m:num>
                      <m:den>
                        <m:d>
                          <m:dPr>
                            <m:ctrlPr>
                              <a:rPr lang="en-US" sz="1800" b="0" i="1" smtClean="0">
                                <a:latin typeface="Cambria Math" panose="02040503050406030204" pitchFamily="18" charset="0"/>
                              </a:rPr>
                            </m:ctrlPr>
                          </m:d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3</m:t>
                                </m:r>
                              </m:sub>
                            </m:sSub>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5</m:t>
                                </m:r>
                              </m:sub>
                            </m:sSub>
                            <m:r>
                              <a:rPr lang="en-US" sz="1800" b="0" i="1" smtClean="0">
                                <a:latin typeface="Cambria Math" panose="02040503050406030204" pitchFamily="18" charset="0"/>
                              </a:rPr>
                              <m:t>+</m:t>
                            </m:r>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m:t>
                                </m:r>
                              </m:num>
                              <m:den>
                                <m:r>
                                  <a:rPr lang="en-US" sz="1800" b="0" i="1" smtClean="0">
                                    <a:latin typeface="Cambria Math" panose="02040503050406030204" pitchFamily="18" charset="0"/>
                                  </a:rPr>
                                  <m:t>𝑗</m:t>
                                </m:r>
                                <m:r>
                                  <a:rPr lang="en-US" sz="1800" b="0" i="1" smtClean="0">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𝑐</m:t>
                                </m:r>
                              </m:den>
                            </m:f>
                          </m:e>
                        </m:d>
                      </m:den>
                    </m:f>
                  </m:oMath>
                </a14:m>
                <a:r>
                  <a:rPr lang="en-IN" sz="1800" dirty="0"/>
                  <a:t>                                      </a:t>
                </a:r>
                <a14:m>
                  <m:oMath xmlns:m="http://schemas.openxmlformats.org/officeDocument/2006/math">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𝑂</m:t>
                        </m:r>
                        <m:r>
                          <a:rPr lang="en-US" sz="1800" b="0" i="1" smtClean="0">
                            <a:latin typeface="Cambria Math" panose="02040503050406030204" pitchFamily="18" charset="0"/>
                          </a:rPr>
                          <m:t>𝐶</m:t>
                        </m:r>
                      </m:sub>
                    </m:sSub>
                    <m:r>
                      <a:rPr lang="en-US" sz="1800" i="1">
                        <a:latin typeface="Cambria Math" panose="02040503050406030204" pitchFamily="18" charset="0"/>
                      </a:rPr>
                      <m:t>=</m:t>
                    </m:r>
                    <m:f>
                      <m:fPr>
                        <m:ctrlPr>
                          <a:rPr lang="en-US" sz="1800" i="1">
                            <a:latin typeface="Cambria Math" panose="02040503050406030204" pitchFamily="18" charset="0"/>
                          </a:rPr>
                        </m:ctrlPr>
                      </m:fPr>
                      <m:num>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e>
                        </m:d>
                      </m:den>
                    </m:f>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𝑍</m:t>
                        </m:r>
                      </m:e>
                      <m:sub>
                        <m:r>
                          <a:rPr lang="en-US" sz="1800" i="1">
                            <a:latin typeface="Cambria Math" panose="02040503050406030204" pitchFamily="18" charset="0"/>
                          </a:rPr>
                          <m:t>3</m:t>
                        </m:r>
                      </m:sub>
                    </m:sSub>
                  </m:oMath>
                </a14:m>
                <a:endParaRPr lang="en-IN" sz="1800" dirty="0"/>
              </a:p>
              <a:p>
                <a:pPr marL="0" indent="0">
                  <a:buNone/>
                </a:pPr>
                <a:r>
                  <a:rPr lang="en-IN" sz="1800" dirty="0"/>
                  <a:t>Hence with reference fig(b) it can be seen that</a:t>
                </a:r>
              </a:p>
              <a:p>
                <a:pPr marL="0" indent="0">
                  <a:buNone/>
                </a:pPr>
                <a:r>
                  <a:rPr lang="en-IN" sz="1800" dirty="0"/>
                  <a:t>                                              </a:t>
                </a:r>
                <a14:m>
                  <m:oMath xmlns:m="http://schemas.openxmlformats.org/officeDocument/2006/math">
                    <m:sSub>
                      <m:sSubPr>
                        <m:ctrlPr>
                          <a:rPr lang="en-IN" sz="1800" i="1" smtClean="0">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1</m:t>
                        </m:r>
                      </m:sub>
                    </m:sSub>
                  </m:oMath>
                </a14:m>
                <a:r>
                  <a:rPr lang="en-IN" sz="1800" dirty="0"/>
                  <a:t>=</a:t>
                </a:r>
                <a14:m>
                  <m:oMath xmlns:m="http://schemas.openxmlformats.org/officeDocument/2006/math">
                    <m:d>
                      <m:dPr>
                        <m:ctrlPr>
                          <a:rPr lang="en-IN" sz="1800" i="1" dirty="0" smtClean="0">
                            <a:latin typeface="Cambria Math" panose="02040503050406030204" pitchFamily="18" charset="0"/>
                          </a:rPr>
                        </m:ctrlPr>
                      </m:dPr>
                      <m:e>
                        <m:sSub>
                          <m:sSubPr>
                            <m:ctrlPr>
                              <a:rPr lang="en-IN" sz="1800" i="1" dirty="0" smtClean="0">
                                <a:latin typeface="Cambria Math" panose="02040503050406030204" pitchFamily="18" charset="0"/>
                              </a:rPr>
                            </m:ctrlPr>
                          </m:sSubPr>
                          <m:e>
                            <m:r>
                              <a:rPr lang="en-US" sz="1800" b="0" i="1" dirty="0" smtClean="0">
                                <a:latin typeface="Cambria Math" panose="02040503050406030204" pitchFamily="18" charset="0"/>
                              </a:rPr>
                              <m:t>𝑅</m:t>
                            </m:r>
                          </m:e>
                          <m:sub>
                            <m:r>
                              <a:rPr lang="en-US" sz="1800" b="0" i="1" dirty="0" smtClean="0">
                                <a:latin typeface="Cambria Math" panose="02040503050406030204" pitchFamily="18" charset="0"/>
                              </a:rPr>
                              <m:t>1</m:t>
                            </m:r>
                          </m:sub>
                        </m:sSub>
                        <m:r>
                          <a:rPr lang="en-US" sz="1800" b="0" i="1" dirty="0" smtClean="0">
                            <a:latin typeface="Cambria Math" panose="02040503050406030204" pitchFamily="18" charset="0"/>
                          </a:rPr>
                          <m:t>+</m:t>
                        </m:r>
                        <m:r>
                          <a:rPr lang="en-US" sz="1800" b="0" i="1" dirty="0" smtClean="0">
                            <a:latin typeface="Cambria Math" panose="02040503050406030204" pitchFamily="18" charset="0"/>
                          </a:rPr>
                          <m:t>𝑗</m:t>
                        </m:r>
                        <m:r>
                          <a:rPr lang="en-US" sz="1800" b="0" i="1" dirty="0" smtClean="0">
                            <a:latin typeface="Cambria Math" panose="02040503050406030204" pitchFamily="18" charset="0"/>
                            <a:ea typeface="Cambria Math" panose="02040503050406030204" pitchFamily="18" charset="0"/>
                          </a:rPr>
                          <m:t>𝜔</m:t>
                        </m:r>
                        <m:sSub>
                          <m:sSubPr>
                            <m:ctrlPr>
                              <a:rPr lang="en-US" sz="1800" b="0" i="1" dirty="0" smtClean="0">
                                <a:latin typeface="Cambria Math" panose="02040503050406030204" pitchFamily="18" charset="0"/>
                                <a:ea typeface="Cambria Math" panose="02040503050406030204" pitchFamily="18" charset="0"/>
                              </a:rPr>
                            </m:ctrlPr>
                          </m:sSubPr>
                          <m:e>
                            <m:r>
                              <a:rPr lang="en-US" sz="1800" b="0" i="1" dirty="0" smtClean="0">
                                <a:latin typeface="Cambria Math" panose="02040503050406030204" pitchFamily="18" charset="0"/>
                                <a:ea typeface="Cambria Math" panose="02040503050406030204" pitchFamily="18" charset="0"/>
                              </a:rPr>
                              <m:t>𝐿</m:t>
                            </m:r>
                          </m:e>
                          <m:sub>
                            <m:r>
                              <a:rPr lang="en-US" sz="1800" b="0" i="1" dirty="0" smtClean="0">
                                <a:latin typeface="Cambria Math" panose="02040503050406030204" pitchFamily="18" charset="0"/>
                                <a:ea typeface="Cambria Math" panose="02040503050406030204" pitchFamily="18" charset="0"/>
                              </a:rPr>
                              <m:t>1</m:t>
                            </m:r>
                          </m:sub>
                        </m:sSub>
                      </m:e>
                    </m:d>
                    <m:r>
                      <a:rPr lang="en-US" sz="1800" b="0" i="1" dirty="0" smtClean="0">
                        <a:latin typeface="Cambria Math" panose="02040503050406030204" pitchFamily="18" charset="0"/>
                      </a:rPr>
                      <m:t>, </m:t>
                    </m:r>
                    <m:sSub>
                      <m:sSubPr>
                        <m:ctrlPr>
                          <a:rPr lang="en-US" sz="1800" i="1">
                            <a:latin typeface="Cambria Math" panose="02040503050406030204" pitchFamily="18" charset="0"/>
                          </a:rPr>
                        </m:ctrlPr>
                      </m:sSubPr>
                      <m:e>
                        <m:r>
                          <a:rPr lang="en-US" sz="1800" b="0" i="1" smtClean="0">
                            <a:latin typeface="Cambria Math" panose="02040503050406030204" pitchFamily="18" charset="0"/>
                          </a:rPr>
                          <m:t>𝑍</m:t>
                        </m:r>
                      </m:e>
                      <m:sub>
                        <m:r>
                          <a:rPr lang="en-US" sz="1800" b="0" i="1" smtClean="0">
                            <a:latin typeface="Cambria Math" panose="02040503050406030204" pitchFamily="18" charset="0"/>
                          </a:rPr>
                          <m:t>2</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b="0" i="1" dirty="0" smtClean="0">
                            <a:latin typeface="Cambria Math" panose="02040503050406030204" pitchFamily="18" charset="0"/>
                          </a:rPr>
                          <m:t>2</m:t>
                        </m:r>
                      </m:sub>
                    </m:sSub>
                    <m:r>
                      <a:rPr lang="en-US" sz="1800" b="0" i="1" dirty="0" smtClean="0">
                        <a:latin typeface="Cambria Math" panose="02040503050406030204" pitchFamily="18" charset="0"/>
                      </a:rPr>
                      <m:t>,</m:t>
                    </m:r>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3</m:t>
                        </m:r>
                      </m:sub>
                    </m:sSub>
                  </m:oMath>
                </a14:m>
                <a:r>
                  <a:rPr lang="en-US" sz="1800" dirty="0"/>
                  <a:t> </a:t>
                </a:r>
                <a14:m>
                  <m:oMath xmlns:m="http://schemas.openxmlformats.org/officeDocument/2006/math">
                    <m:r>
                      <a:rPr lang="en-US" sz="1800" i="1">
                        <a:latin typeface="Cambria Math" panose="02040503050406030204" pitchFamily="18" charset="0"/>
                      </a:rPr>
                      <m:t>=</m:t>
                    </m:r>
                  </m:oMath>
                </a14:m>
                <a:r>
                  <a:rPr lang="en-IN" sz="1800" dirty="0"/>
                  <a:t> </a:t>
                </a:r>
                <a14:m>
                  <m:oMath xmlns:m="http://schemas.openxmlformats.org/officeDocument/2006/math">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𝑂𝐶</m:t>
                        </m:r>
                      </m:sub>
                    </m:sSub>
                  </m:oMath>
                </a14:m>
                <a:r>
                  <a:rPr lang="en-US" sz="1800" dirty="0"/>
                  <a:t> </a:t>
                </a:r>
                <a14:m>
                  <m:oMath xmlns:m="http://schemas.openxmlformats.org/officeDocument/2006/math">
                    <m:r>
                      <a:rPr lang="en-US" sz="1800" i="1">
                        <a:latin typeface="Cambria Math" panose="02040503050406030204" pitchFamily="18" charset="0"/>
                      </a:rPr>
                      <m:t>=</m:t>
                    </m:r>
                  </m:oMath>
                </a14:m>
                <a:r>
                  <a:rPr lang="en-US" sz="1800" dirty="0"/>
                  <a:t> </a:t>
                </a:r>
                <a14:m>
                  <m:oMath xmlns:m="http://schemas.openxmlformats.org/officeDocument/2006/math">
                    <m:f>
                      <m:fPr>
                        <m:ctrlPr>
                          <a:rPr lang="en-US" sz="1800" i="1">
                            <a:latin typeface="Cambria Math" panose="02040503050406030204" pitchFamily="18" charset="0"/>
                          </a:rPr>
                        </m:ctrlPr>
                      </m:fPr>
                      <m:num>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num>
                      <m:den>
                        <m:d>
                          <m:dPr>
                            <m:ctrlPr>
                              <a:rPr lang="en-US" sz="1800" i="1">
                                <a:latin typeface="Cambria Math" panose="02040503050406030204" pitchFamily="18" charset="0"/>
                              </a:rPr>
                            </m:ctrlPr>
                          </m:dPr>
                          <m:e>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e>
                        </m:d>
                      </m:den>
                    </m:f>
                  </m:oMath>
                </a14:m>
                <a:r>
                  <a:rPr lang="en-IN" sz="1800" dirty="0"/>
                  <a:t> ,</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4</m:t>
                        </m:r>
                      </m:sub>
                    </m:sSub>
                  </m:oMath>
                </a14:m>
                <a:r>
                  <a:rPr lang="en-US" sz="1800" dirty="0"/>
                  <a:t> =</a:t>
                </a:r>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r>
                      <a:rPr lang="en-US" sz="1800" b="0" i="0" dirty="0" smtClean="0">
                        <a:latin typeface="Cambria Math" panose="02040503050406030204" pitchFamily="18" charset="0"/>
                      </a:rPr>
                      <m:t>+</m:t>
                    </m:r>
                    <m:sSub>
                      <m:sSubPr>
                        <m:ctrlPr>
                          <a:rPr lang="en-IN"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𝑂𝐷</m:t>
                        </m:r>
                      </m:sub>
                    </m:sSub>
                  </m:oMath>
                </a14:m>
                <a:endParaRPr lang="en-IN" sz="1800" dirty="0"/>
              </a:p>
              <a:p>
                <a:pPr marL="0" indent="0">
                  <a:buNone/>
                </a:pPr>
                <a:r>
                  <a:rPr lang="en-IN" sz="1800" dirty="0"/>
                  <a:t>For balance condition</a:t>
                </a:r>
              </a:p>
              <a:p>
                <a:pPr marL="0" indent="0">
                  <a:buNone/>
                </a:pP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i="1">
                            <a:latin typeface="Cambria Math" panose="02040503050406030204" pitchFamily="18" charset="0"/>
                          </a:rPr>
                          <m:t>3</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𝑍</m:t>
                        </m:r>
                      </m:e>
                      <m:sub>
                        <m:r>
                          <a:rPr lang="en-US" sz="1800" b="0" i="1" smtClean="0">
                            <a:latin typeface="Cambria Math" panose="02040503050406030204" pitchFamily="18" charset="0"/>
                          </a:rPr>
                          <m:t>4</m:t>
                        </m:r>
                      </m:sub>
                    </m:sSub>
                  </m:oMath>
                </a14:m>
                <a:endParaRPr lang="en-IN" sz="1800" dirty="0"/>
              </a:p>
              <a:p>
                <a:pPr marL="0" indent="0">
                  <a:buNone/>
                </a:pPr>
                <a:r>
                  <a:rPr lang="en-IN" sz="1800" dirty="0"/>
                  <a:t>                                              </a:t>
                </a:r>
                <a14:m>
                  <m:oMath xmlns:m="http://schemas.openxmlformats.org/officeDocument/2006/math">
                    <m:d>
                      <m:dPr>
                        <m:ctrlPr>
                          <a:rPr lang="en-IN" sz="1800" i="1" dirty="0">
                            <a:latin typeface="Cambria Math" panose="02040503050406030204" pitchFamily="18" charset="0"/>
                          </a:rPr>
                        </m:ctrlPr>
                      </m:dPr>
                      <m:e>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1</m:t>
                            </m:r>
                          </m:sub>
                        </m:sSub>
                        <m:r>
                          <a:rPr lang="en-US" sz="1800" i="1" dirty="0">
                            <a:latin typeface="Cambria Math" panose="02040503050406030204" pitchFamily="18" charset="0"/>
                          </a:rPr>
                          <m:t>+</m:t>
                        </m:r>
                        <m:r>
                          <a:rPr lang="en-US" sz="1800" i="1" dirty="0">
                            <a:latin typeface="Cambria Math" panose="02040503050406030204" pitchFamily="18" charset="0"/>
                          </a:rPr>
                          <m:t>𝑗</m:t>
                        </m:r>
                        <m:r>
                          <a:rPr lang="en-US" sz="1800" i="1" dirty="0">
                            <a:latin typeface="Cambria Math" panose="02040503050406030204" pitchFamily="18" charset="0"/>
                            <a:ea typeface="Cambria Math" panose="02040503050406030204" pitchFamily="18" charset="0"/>
                          </a:rPr>
                          <m:t>𝜔</m:t>
                        </m:r>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e>
                    </m:d>
                    <m:d>
                      <m:dPr>
                        <m:ctrlPr>
                          <a:rPr lang="en-US" sz="1800" i="1" dirty="0" smtClean="0">
                            <a:latin typeface="Cambria Math" panose="02040503050406030204" pitchFamily="18" charset="0"/>
                            <a:ea typeface="Cambria Math" panose="02040503050406030204" pitchFamily="18" charset="0"/>
                          </a:rPr>
                        </m:ctrlPr>
                      </m:dPr>
                      <m:e>
                        <m:f>
                          <m:fPr>
                            <m:ctrlPr>
                              <a:rPr lang="en-US" sz="1800" i="1">
                                <a:latin typeface="Cambria Math" panose="02040503050406030204" pitchFamily="18" charset="0"/>
                              </a:rPr>
                            </m:ctrlPr>
                          </m:fPr>
                          <m:num>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den>
                        </m:f>
                      </m:e>
                    </m:d>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d>
                      <m:dPr>
                        <m:ctrlPr>
                          <a:rPr lang="en-US" sz="1800" i="1" dirty="0" smtClean="0">
                            <a:latin typeface="Cambria Math" panose="02040503050406030204" pitchFamily="18" charset="0"/>
                          </a:rPr>
                        </m:ctrlPr>
                      </m:dPr>
                      <m:e>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b="0" i="1" dirty="0" smtClean="0">
                                <a:latin typeface="Cambria Math" panose="02040503050406030204" pitchFamily="18" charset="0"/>
                              </a:rPr>
                              <m:t>4</m:t>
                            </m:r>
                          </m:sub>
                        </m:sSub>
                        <m:r>
                          <a:rPr lang="en-US" sz="1800" b="0" i="1" dirty="0" smtClean="0">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den>
                        </m:f>
                      </m:e>
                    </m:d>
                  </m:oMath>
                </a14:m>
                <a:endParaRPr lang="en-IN" sz="1800" dirty="0"/>
              </a:p>
              <a:p>
                <a:pPr marL="0" indent="0">
                  <a:buNone/>
                </a:pPr>
                <a:r>
                  <a:rPr lang="en-IN" sz="1800" dirty="0"/>
                  <a:t>By simplifying</a:t>
                </a:r>
              </a:p>
              <a:p>
                <a:pPr marL="0" indent="0">
                  <a:buNone/>
                </a:pPr>
                <a:r>
                  <a:rPr lang="en-IN" sz="1800" dirty="0"/>
                  <a:t>                                                </a:t>
                </a:r>
                <a14:m>
                  <m:oMath xmlns:m="http://schemas.openxmlformats.org/officeDocument/2006/math">
                    <m:d>
                      <m:dPr>
                        <m:ctrlPr>
                          <a:rPr lang="en-IN" sz="1800" i="1" dirty="0">
                            <a:latin typeface="Cambria Math" panose="02040503050406030204" pitchFamily="18" charset="0"/>
                          </a:rPr>
                        </m:ctrlPr>
                      </m:dPr>
                      <m:e>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1</m:t>
                            </m:r>
                          </m:sub>
                        </m:sSub>
                        <m:r>
                          <a:rPr lang="en-US" sz="1800" i="1" dirty="0">
                            <a:latin typeface="Cambria Math" panose="02040503050406030204" pitchFamily="18" charset="0"/>
                          </a:rPr>
                          <m:t>+</m:t>
                        </m:r>
                        <m:r>
                          <a:rPr lang="en-US" sz="1800" i="1" dirty="0">
                            <a:latin typeface="Cambria Math" panose="02040503050406030204" pitchFamily="18" charset="0"/>
                          </a:rPr>
                          <m:t>𝑗</m:t>
                        </m:r>
                        <m:r>
                          <a:rPr lang="en-US" sz="1800" i="1" dirty="0">
                            <a:latin typeface="Cambria Math" panose="02040503050406030204" pitchFamily="18" charset="0"/>
                            <a:ea typeface="Cambria Math" panose="02040503050406030204" pitchFamily="18" charset="0"/>
                          </a:rPr>
                          <m:t>𝜔</m:t>
                        </m:r>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e>
                    </m:d>
                    <m:d>
                      <m:dPr>
                        <m:ctrlPr>
                          <a:rPr lang="en-US" sz="1800" i="1" dirty="0">
                            <a:latin typeface="Cambria Math" panose="02040503050406030204" pitchFamily="18" charset="0"/>
                            <a:ea typeface="Cambria Math" panose="02040503050406030204" pitchFamily="18" charset="0"/>
                          </a:rPr>
                        </m:ctrlPr>
                      </m:dPr>
                      <m:e>
                        <m:f>
                          <m:fPr>
                            <m:ctrlPr>
                              <a:rPr lang="en-US" sz="1800" i="1">
                                <a:latin typeface="Cambria Math" panose="02040503050406030204" pitchFamily="18" charset="0"/>
                              </a:rPr>
                            </m:ctrlPr>
                          </m:fPr>
                          <m:num>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den>
                        </m:f>
                      </m:e>
                    </m:d>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d>
                      <m:dPr>
                        <m:ctrlPr>
                          <a:rPr lang="en-US" sz="1800" i="1" dirty="0">
                            <a:latin typeface="Cambria Math" panose="02040503050406030204" pitchFamily="18" charset="0"/>
                          </a:rPr>
                        </m:ctrlPr>
                      </m:dPr>
                      <m:e>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4</m:t>
                            </m:r>
                          </m:sub>
                        </m:sSub>
                        <m:r>
                          <a:rPr lang="en-US" sz="1800" b="0" i="1" dirty="0" smtClean="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r>
                          <a:rPr lang="en-US" sz="1800" b="0" i="1" smtClean="0">
                            <a:latin typeface="Cambria Math" panose="02040503050406030204" pitchFamily="18" charset="0"/>
                            <a:ea typeface="Cambria Math" panose="02040503050406030204" pitchFamily="18" charset="0"/>
                          </a:rPr>
                          <m:t>)</m:t>
                        </m:r>
                        <m:r>
                          <a:rPr lang="en-US" sz="1800" i="1" dirty="0">
                            <a:latin typeface="Cambria Math" panose="02040503050406030204" pitchFamily="18" charset="0"/>
                          </a:rPr>
                          <m:t>+</m:t>
                        </m:r>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den>
                        </m:f>
                      </m:e>
                    </m:d>
                  </m:oMath>
                </a14:m>
                <a:endParaRPr lang="en-IN" sz="1800" dirty="0"/>
              </a:p>
              <a:p>
                <a:pPr marL="0" indent="0">
                  <a:buNone/>
                </a:pPr>
                <a:endParaRPr lang="en-IN" sz="1800" dirty="0"/>
              </a:p>
              <a:p>
                <a:pPr marL="0" indent="0">
                  <a:buNone/>
                </a:pPr>
                <a:r>
                  <a:rPr lang="en-IN" sz="1800" dirty="0"/>
                  <a:t>                                                    </a:t>
                </a:r>
                <a14:m>
                  <m:oMath xmlns:m="http://schemas.openxmlformats.org/officeDocument/2006/math">
                    <m:d>
                      <m:dPr>
                        <m:ctrlPr>
                          <a:rPr lang="en-IN" sz="1800" i="1" dirty="0">
                            <a:latin typeface="Cambria Math" panose="02040503050406030204" pitchFamily="18" charset="0"/>
                          </a:rPr>
                        </m:ctrlPr>
                      </m:dPr>
                      <m:e>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1</m:t>
                            </m:r>
                          </m:sub>
                        </m:sSub>
                        <m:r>
                          <a:rPr lang="en-US" sz="1800" i="1" dirty="0">
                            <a:latin typeface="Cambria Math" panose="02040503050406030204" pitchFamily="18" charset="0"/>
                          </a:rPr>
                          <m:t>+</m:t>
                        </m:r>
                        <m:r>
                          <a:rPr lang="en-US" sz="1800" i="1" dirty="0">
                            <a:latin typeface="Cambria Math" panose="02040503050406030204" pitchFamily="18" charset="0"/>
                          </a:rPr>
                          <m:t>𝑗</m:t>
                        </m:r>
                        <m:r>
                          <a:rPr lang="en-US" sz="1800" i="1" dirty="0">
                            <a:latin typeface="Cambria Math" panose="02040503050406030204" pitchFamily="18" charset="0"/>
                            <a:ea typeface="Cambria Math" panose="02040503050406030204" pitchFamily="18" charset="0"/>
                          </a:rPr>
                          <m:t>𝜔</m:t>
                        </m:r>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e>
                    </m:d>
                  </m:oMath>
                </a14:m>
                <a:r>
                  <a:rPr lang="en-IN" sz="1800" dirty="0"/>
                  <a:t>x</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4</m:t>
                        </m:r>
                      </m:sub>
                    </m:sSub>
                  </m:oMath>
                </a14:m>
                <a:r>
                  <a:rPr lang="en-US" sz="1800" dirty="0"/>
                  <a:t> </a:t>
                </a:r>
                <a14:m>
                  <m:oMath xmlns:m="http://schemas.openxmlformats.org/officeDocument/2006/math">
                    <m:r>
                      <a:rPr lang="en-US" sz="1800" i="1" dirty="0">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m:t>
                    </m:r>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endParaRPr lang="en-IN" sz="1800" dirty="0"/>
              </a:p>
              <a:p>
                <a:pPr marL="0" indent="0">
                  <a:buNone/>
                </a:pPr>
                <a:endParaRPr lang="en-IN" sz="1800" dirty="0"/>
              </a:p>
              <a:p>
                <a:pPr marL="0" indent="0">
                  <a:buNone/>
                </a:pP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smtClean="0">
                                <a:latin typeface="Cambria Math" panose="02040503050406030204" pitchFamily="18" charset="0"/>
                              </a:rPr>
                            </m:ctrlPr>
                          </m:sSubPr>
                          <m:e>
                            <m:r>
                              <a:rPr lang="en-US" sz="1800" b="0" i="1" smtClean="0">
                                <a:latin typeface="Cambria Math" panose="02040503050406030204" pitchFamily="18" charset="0"/>
                              </a:rPr>
                              <m:t>𝑅</m:t>
                            </m:r>
                          </m:e>
                          <m:sub>
                            <m:r>
                              <a:rPr lang="en-US" sz="1800" b="0" i="1" smtClean="0">
                                <a:latin typeface="Cambria Math" panose="02040503050406030204" pitchFamily="18" charset="0"/>
                              </a:rPr>
                              <m:t>1</m:t>
                            </m:r>
                          </m:sub>
                        </m:sSub>
                        <m:sSub>
                          <m:sSubPr>
                            <m:ctrlPr>
                              <a:rPr lang="en-US" sz="1800" i="1" smtClean="0">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a:t>
                </a:r>
                <a14:m>
                  <m:oMath xmlns:m="http://schemas.openxmlformats.org/officeDocument/2006/math">
                    <m:f>
                      <m:fPr>
                        <m:ctrlPr>
                          <a:rPr lang="en-IN" sz="1800" i="1" dirty="0" smtClean="0">
                            <a:latin typeface="Cambria Math" panose="02040503050406030204" pitchFamily="18" charset="0"/>
                          </a:rPr>
                        </m:ctrlPr>
                      </m:fPr>
                      <m:num>
                        <m:r>
                          <a:rPr lang="en-US" sz="1800" i="1" dirty="0">
                            <a:latin typeface="Cambria Math" panose="02040503050406030204" pitchFamily="18" charset="0"/>
                          </a:rPr>
                          <m:t>𝑗</m:t>
                        </m:r>
                        <m:r>
                          <a:rPr lang="en-US" sz="1800" i="1" dirty="0">
                            <a:latin typeface="Cambria Math" panose="02040503050406030204" pitchFamily="18" charset="0"/>
                            <a:ea typeface="Cambria Math" panose="02040503050406030204" pitchFamily="18" charset="0"/>
                          </a:rPr>
                          <m:t>𝜔</m:t>
                        </m:r>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𝑐</m:t>
                        </m:r>
                      </m:den>
                    </m:f>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4</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rPr>
                          <m:t>𝑗</m:t>
                        </m:r>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endParaRPr lang="en-IN" sz="1800" dirty="0"/>
              </a:p>
              <a:p>
                <a:pPr marL="0" indent="0">
                  <a:buNone/>
                </a:pPr>
                <a:endParaRPr lang="en-IN" sz="1800" dirty="0"/>
              </a:p>
              <a:p>
                <a:pPr marL="0" indent="0">
                  <a:buNone/>
                </a:pPr>
                <a:r>
                  <a:rPr lang="en-IN" sz="1800" dirty="0"/>
                  <a:t>                                                    -</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b="0" i="1" smtClean="0">
                                <a:latin typeface="Cambria Math" panose="02040503050406030204" pitchFamily="18" charset="0"/>
                              </a:rPr>
                              <m:t>𝑗</m:t>
                            </m:r>
                            <m:r>
                              <a:rPr lang="en-US" sz="1800" i="1">
                                <a:latin typeface="Cambria Math" panose="02040503050406030204" pitchFamily="18" charset="0"/>
                              </a:rPr>
                              <m:t>𝑅</m:t>
                            </m:r>
                          </m:e>
                          <m:sub>
                            <m:r>
                              <a:rPr lang="en-US" sz="1800" i="1">
                                <a:latin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 </a:t>
                </a:r>
                <a14:m>
                  <m:oMath xmlns:m="http://schemas.openxmlformats.org/officeDocument/2006/math">
                    <m:f>
                      <m:fPr>
                        <m:ctrlPr>
                          <a:rPr lang="en-IN" sz="1800" i="1" dirty="0">
                            <a:latin typeface="Cambria Math" panose="02040503050406030204" pitchFamily="18" charset="0"/>
                          </a:rPr>
                        </m:ctrlPr>
                      </m:fPr>
                      <m:num>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ea typeface="Cambria Math" panose="02040503050406030204" pitchFamily="18" charset="0"/>
                          </a:rPr>
                          <m:t>𝑐</m:t>
                        </m:r>
                      </m:den>
                    </m:f>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 -</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𝑗𝑅</m:t>
                            </m:r>
                          </m:e>
                          <m:sub>
                            <m:r>
                              <a:rPr lang="en-US" sz="1800" b="0" i="1" smtClean="0">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b="0" i="1" smtClean="0">
                                <a:latin typeface="Cambria Math" panose="02040503050406030204" pitchFamily="18" charset="0"/>
                              </a:rPr>
                              <m:t>4</m:t>
                            </m:r>
                          </m:sub>
                        </m:sSub>
                      </m:num>
                      <m:den>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endParaRPr lang="en-IN" sz="1800" dirty="0"/>
              </a:p>
              <a:p>
                <a:endParaRPr lang="en-IN" sz="1800" dirty="0"/>
              </a:p>
            </p:txBody>
          </p:sp>
        </mc:Choice>
        <mc:Fallback xmlns="">
          <p:sp>
            <p:nvSpPr>
              <p:cNvPr id="3" name="Content Placeholder 2">
                <a:extLst>
                  <a:ext uri="{FF2B5EF4-FFF2-40B4-BE49-F238E27FC236}">
                    <a16:creationId xmlns:a16="http://schemas.microsoft.com/office/drawing/2014/main" id="{5F353448-D613-4DA8-BF59-1E269679AB23}"/>
                  </a:ext>
                </a:extLst>
              </p:cNvPr>
              <p:cNvSpPr>
                <a:spLocks noGrp="1" noRot="1" noChangeAspect="1" noMove="1" noResize="1" noEditPoints="1" noAdjustHandles="1" noChangeArrowheads="1" noChangeShapeType="1" noTextEdit="1"/>
              </p:cNvSpPr>
              <p:nvPr>
                <p:ph idx="1"/>
              </p:nvPr>
            </p:nvSpPr>
            <p:spPr>
              <a:xfrm>
                <a:off x="838200" y="251926"/>
                <a:ext cx="10515600" cy="6335485"/>
              </a:xfrm>
              <a:blipFill>
                <a:blip r:embed="rId2"/>
                <a:stretch>
                  <a:fillRect l="-406" t="-1346"/>
                </a:stretch>
              </a:blipFill>
            </p:spPr>
            <p:txBody>
              <a:bodyPr/>
              <a:lstStyle/>
              <a:p>
                <a:r>
                  <a:rPr lang="en-IN">
                    <a:noFill/>
                  </a:rPr>
                  <a:t> </a:t>
                </a:r>
              </a:p>
            </p:txBody>
          </p:sp>
        </mc:Fallback>
      </mc:AlternateContent>
    </p:spTree>
    <p:extLst>
      <p:ext uri="{BB962C8B-B14F-4D97-AF65-F5344CB8AC3E}">
        <p14:creationId xmlns:p14="http://schemas.microsoft.com/office/powerpoint/2010/main" val="29812277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itle 1">
                <a:extLst>
                  <a:ext uri="{FF2B5EF4-FFF2-40B4-BE49-F238E27FC236}">
                    <a16:creationId xmlns:a16="http://schemas.microsoft.com/office/drawing/2014/main" id="{03FD19A2-9FDA-4F69-BD4C-C16EC352A131}"/>
                  </a:ext>
                </a:extLst>
              </p:cNvPr>
              <p:cNvSpPr>
                <a:spLocks noGrp="1"/>
              </p:cNvSpPr>
              <p:nvPr>
                <p:ph idx="1"/>
              </p:nvPr>
            </p:nvSpPr>
            <p:spPr>
              <a:xfrm>
                <a:off x="838200" y="392113"/>
                <a:ext cx="10515600" cy="6073775"/>
              </a:xfrm>
            </p:spPr>
            <p:txBody>
              <a:bodyPr>
                <a:normAutofit fontScale="97500" lnSpcReduction="10000"/>
              </a:bodyPr>
              <a:lstStyle/>
              <a:p>
                <a:r>
                  <a:rPr lang="en-IN" sz="1800" dirty="0">
                    <a:solidFill>
                      <a:srgbClr val="666666"/>
                    </a:solidFill>
                    <a:latin typeface="Arial" panose="020B0604020202020204" pitchFamily="34" charset="0"/>
                  </a:rPr>
                  <a:t> Now equate the real and imaginary terms</a:t>
                </a:r>
              </a:p>
              <a:p>
                <a:pPr marL="0" indent="0">
                  <a:buNone/>
                </a:pPr>
                <a:r>
                  <a:rPr lang="en-IN" sz="1800" dirty="0"/>
                  <a:t>                                                               </a:t>
                </a:r>
                <a14:m>
                  <m:oMath xmlns:m="http://schemas.openxmlformats.org/officeDocument/2006/math">
                    <m:f>
                      <m:fPr>
                        <m:ctrlPr>
                          <a:rPr lang="en-IN" sz="1800" i="1" dirty="0">
                            <a:latin typeface="Cambria Math" panose="02040503050406030204" pitchFamily="18" charset="0"/>
                          </a:rPr>
                        </m:ctrlPr>
                      </m:fPr>
                      <m:num>
                        <m:sSub>
                          <m:sSubPr>
                            <m:ctrlPr>
                              <a:rPr lang="en-US" sz="1800" i="1" dirty="0">
                                <a:latin typeface="Cambria Math" panose="02040503050406030204" pitchFamily="18" charset="0"/>
                                <a:ea typeface="Cambria Math" panose="02040503050406030204" pitchFamily="18" charset="0"/>
                              </a:rPr>
                            </m:ctrlPr>
                          </m:sSubPr>
                          <m:e>
                            <m:r>
                              <a:rPr lang="en-US" sz="1800" i="1" dirty="0">
                                <a:latin typeface="Cambria Math" panose="02040503050406030204" pitchFamily="18" charset="0"/>
                                <a:ea typeface="Cambria Math" panose="02040503050406030204" pitchFamily="18" charset="0"/>
                              </a:rPr>
                              <m:t>𝐿</m:t>
                            </m:r>
                          </m:e>
                          <m:sub>
                            <m:r>
                              <a:rPr lang="en-US" sz="1800" i="1" dirty="0">
                                <a:latin typeface="Cambria Math" panose="02040503050406030204" pitchFamily="18" charset="0"/>
                                <a:ea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ea typeface="Cambria Math" panose="02040503050406030204" pitchFamily="18" charset="0"/>
                          </a:rPr>
                          <m:t>𝑐</m:t>
                        </m:r>
                      </m:den>
                    </m:f>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endParaRPr lang="en-IN" sz="1800" dirty="0"/>
              </a:p>
              <a:p>
                <a:pPr marL="0" indent="0">
                  <a:buNone/>
                </a:pPr>
                <a:endParaRPr lang="en-IN" sz="1800" dirty="0"/>
              </a:p>
              <a:p>
                <a:pPr marL="0" indent="0">
                  <a:buNone/>
                </a:pPr>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b="0" i="1" dirty="0" smtClean="0">
                            <a:latin typeface="Cambria Math" panose="02040503050406030204" pitchFamily="18" charset="0"/>
                          </a:rPr>
                          <m:t>𝐿</m:t>
                        </m:r>
                      </m:e>
                      <m:sub>
                        <m:r>
                          <a:rPr lang="en-US" sz="1800" b="0" i="1" dirty="0" smtClean="0">
                            <a:latin typeface="Cambria Math" panose="02040503050406030204" pitchFamily="18" charset="0"/>
                          </a:rPr>
                          <m:t>1</m:t>
                        </m:r>
                      </m:sub>
                    </m:sSub>
                  </m:oMath>
                </a14:m>
                <a:r>
                  <a:rPr lang="en-IN" sz="1800" dirty="0"/>
                  <a:t>= </a:t>
                </a:r>
                <a14:m>
                  <m:oMath xmlns:m="http://schemas.openxmlformats.org/officeDocument/2006/math">
                    <m:f>
                      <m:fPr>
                        <m:ctrlPr>
                          <a:rPr lang="en-IN" sz="1800" i="1" dirty="0">
                            <a:latin typeface="Cambria Math" panose="02040503050406030204" pitchFamily="18" charset="0"/>
                          </a:rPr>
                        </m:ctrlPr>
                      </m:fPr>
                      <m:num>
                        <m:r>
                          <a:rPr lang="en-US" sz="1800" b="0" i="1" dirty="0" smtClean="0">
                            <a:latin typeface="Cambria Math" panose="02040503050406030204" pitchFamily="18" charset="0"/>
                          </a:rPr>
                          <m:t>𝐶</m:t>
                        </m:r>
                      </m:num>
                      <m:den>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den>
                    </m:f>
                  </m:oMath>
                </a14:m>
                <a:r>
                  <a:rPr lang="en-IN" sz="1800" dirty="0"/>
                  <a:t>(</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p>
              <a:p>
                <a:pPr marL="0" indent="0">
                  <a:buNone/>
                </a:pPr>
                <a:endParaRPr lang="en-IN" sz="1800" dirty="0"/>
              </a:p>
              <a:p>
                <a:pPr marL="0" indent="0">
                  <a:buNone/>
                </a:pPr>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1</m:t>
                        </m:r>
                      </m:sub>
                    </m:sSub>
                  </m:oMath>
                </a14:m>
                <a:r>
                  <a:rPr lang="en-IN" sz="1800" dirty="0"/>
                  <a:t>=c(</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  +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a:t>
                </a:r>
              </a:p>
              <a:p>
                <a:pPr marL="0" indent="0">
                  <a:buNone/>
                </a:pPr>
                <a:endParaRPr lang="en-IN" sz="1800" dirty="0"/>
              </a:p>
              <a:p>
                <a:pPr marL="0" indent="0">
                  <a:buNone/>
                </a:pPr>
                <a:r>
                  <a:rPr lang="en-IN" sz="1800" dirty="0"/>
                  <a:t>                                                               =&gt;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1</m:t>
                        </m:r>
                      </m:sub>
                    </m:sSub>
                  </m:oMath>
                </a14:m>
                <a:r>
                  <a:rPr lang="en-IN" sz="1800" dirty="0"/>
                  <a:t>=c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IN" sz="1800" dirty="0"/>
                  <a:t>(</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 +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 +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p>
              <a:p>
                <a:pPr marL="0" indent="0">
                  <a:buNone/>
                </a:pPr>
                <a:endParaRPr lang="en-IN" sz="1800" dirty="0"/>
              </a:p>
              <a:p>
                <a:pPr marL="0" indent="0">
                  <a:buNone/>
                </a:pPr>
                <a:r>
                  <a:rPr lang="en-IN" sz="1800" dirty="0"/>
                  <a:t>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𝐿</m:t>
                        </m:r>
                      </m:e>
                      <m:sub>
                        <m:r>
                          <a:rPr lang="en-US" sz="1800" i="1" dirty="0">
                            <a:latin typeface="Cambria Math" panose="02040503050406030204" pitchFamily="18" charset="0"/>
                          </a:rPr>
                          <m:t>1</m:t>
                        </m:r>
                      </m:sub>
                    </m:sSub>
                  </m:oMath>
                </a14:m>
                <a:r>
                  <a:rPr lang="en-IN" sz="1800" dirty="0"/>
                  <a:t>=c </a:t>
                </a:r>
                <a14:m>
                  <m:oMath xmlns:m="http://schemas.openxmlformats.org/officeDocument/2006/math">
                    <m:sSub>
                      <m:sSubPr>
                        <m:ctrlPr>
                          <a:rPr lang="en-IN" sz="1800" i="1" dirty="0">
                            <a:latin typeface="Cambria Math" panose="02040503050406030204" pitchFamily="18" charset="0"/>
                          </a:rPr>
                        </m:ctrlPr>
                      </m:sSubPr>
                      <m:e>
                        <m:r>
                          <a:rPr lang="en-US" sz="1800" i="1" dirty="0">
                            <a:latin typeface="Cambria Math" panose="02040503050406030204" pitchFamily="18" charset="0"/>
                          </a:rPr>
                          <m:t>𝑅</m:t>
                        </m:r>
                      </m:e>
                      <m:sub>
                        <m:r>
                          <a:rPr lang="en-US" sz="1800" i="1" dirty="0">
                            <a:latin typeface="Cambria Math" panose="02040503050406030204" pitchFamily="18" charset="0"/>
                          </a:rPr>
                          <m:t>2</m:t>
                        </m:r>
                      </m:sub>
                    </m:sSub>
                  </m:oMath>
                </a14:m>
                <a:r>
                  <a:rPr lang="en-IN" sz="1800" dirty="0"/>
                  <a:t>(</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 +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b="0" i="1" smtClean="0">
                            <a:latin typeface="Cambria Math" panose="02040503050406030204" pitchFamily="18" charset="0"/>
                          </a:rPr>
                          <m:t>+</m:t>
                        </m:r>
                        <m:r>
                          <a:rPr lang="en-US" sz="1800" i="1">
                            <a:latin typeface="Cambria Math" panose="02040503050406030204" pitchFamily="18" charset="0"/>
                          </a:rPr>
                          <m:t>𝑅</m:t>
                        </m:r>
                      </m:e>
                      <m:sub>
                        <m:r>
                          <a:rPr lang="en-US" sz="1800" i="1">
                            <a:latin typeface="Cambria Math" panose="02040503050406030204" pitchFamily="18" charset="0"/>
                          </a:rPr>
                          <m:t>4</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5</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a:t>
                </a:r>
              </a:p>
              <a:p>
                <a:pPr marL="0" indent="0">
                  <a:buNone/>
                </a:pPr>
                <a:endParaRPr lang="en-IN" sz="1800" dirty="0"/>
              </a:p>
              <a:p>
                <a:pPr marL="0" indent="0">
                  <a:buNone/>
                </a:pPr>
                <a:r>
                  <a:rPr lang="en-IN" sz="1800" dirty="0"/>
                  <a:t>                                                                  -</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𝑗𝑅</m:t>
                            </m:r>
                          </m:e>
                          <m:sub>
                            <m:r>
                              <a:rPr lang="en-US" sz="1800" i="1">
                                <a:latin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num>
                      <m:den>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r>
                      <a:rPr lang="en-US" sz="1800" b="0" i="0" smtClean="0">
                        <a:latin typeface="Cambria Math" panose="02040503050406030204" pitchFamily="18" charset="0"/>
                        <a:ea typeface="Cambria Math" panose="02040503050406030204" pitchFamily="18" charset="0"/>
                      </a:rPr>
                      <m:t> </m:t>
                    </m:r>
                  </m:oMath>
                </a14:m>
                <a:r>
                  <a:rPr lang="en-IN" sz="1800" dirty="0"/>
                  <a:t> = -</a:t>
                </a:r>
                <a:r>
                  <a:rPr lang="en-US" sz="1800" dirty="0"/>
                  <a:t> </a:t>
                </a:r>
                <a14:m>
                  <m:oMath xmlns:m="http://schemas.openxmlformats.org/officeDocument/2006/math">
                    <m:f>
                      <m:fPr>
                        <m:ctrlPr>
                          <a:rPr lang="en-US" sz="1800" i="1">
                            <a:latin typeface="Cambria Math" panose="02040503050406030204" pitchFamily="18" charset="0"/>
                          </a:rPr>
                        </m:ctrlPr>
                      </m:fPr>
                      <m:num>
                        <m:sSub>
                          <m:sSubPr>
                            <m:ctrlPr>
                              <a:rPr lang="en-US" sz="1800" i="1">
                                <a:latin typeface="Cambria Math" panose="02040503050406030204" pitchFamily="18" charset="0"/>
                              </a:rPr>
                            </m:ctrlPr>
                          </m:sSubPr>
                          <m:e>
                            <m:r>
                              <a:rPr lang="en-US" sz="1800" i="1">
                                <a:latin typeface="Cambria Math" panose="02040503050406030204" pitchFamily="18" charset="0"/>
                              </a:rPr>
                              <m:t>𝑗𝑅</m:t>
                            </m:r>
                          </m:e>
                          <m:sub>
                            <m:r>
                              <a:rPr lang="en-US" sz="1800" i="1">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num>
                      <m:den>
                        <m:r>
                          <a:rPr lang="en-US" sz="1800" i="1">
                            <a:latin typeface="Cambria Math" panose="02040503050406030204" pitchFamily="18" charset="0"/>
                            <a:ea typeface="Cambria Math" panose="02040503050406030204" pitchFamily="18" charset="0"/>
                          </a:rPr>
                          <m:t>𝜔</m:t>
                        </m:r>
                        <m:r>
                          <a:rPr lang="en-US" sz="1800" i="1">
                            <a:latin typeface="Cambria Math" panose="02040503050406030204" pitchFamily="18" charset="0"/>
                            <a:ea typeface="Cambria Math" panose="02040503050406030204" pitchFamily="18" charset="0"/>
                          </a:rPr>
                          <m:t>𝑐</m:t>
                        </m:r>
                      </m:den>
                    </m:f>
                  </m:oMath>
                </a14:m>
                <a:r>
                  <a:rPr lang="en-IN" sz="1800" dirty="0"/>
                  <a:t> ;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endParaRPr lang="en-IN" sz="1800" dirty="0"/>
              </a:p>
              <a:p>
                <a:endParaRPr lang="en-IN" sz="1800" dirty="0"/>
              </a:p>
              <a:p>
                <a:pPr marL="0" indent="0">
                  <a:buNone/>
                </a:pP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1</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2</m:t>
                        </m:r>
                      </m:sub>
                    </m:sSub>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4</m:t>
                        </m:r>
                      </m:sub>
                    </m:sSub>
                  </m:oMath>
                </a14:m>
                <a:r>
                  <a:rPr lang="en-IN" sz="1800" dirty="0"/>
                  <a:t>/</a:t>
                </a: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𝑅</m:t>
                        </m:r>
                      </m:e>
                      <m:sub>
                        <m:r>
                          <a:rPr lang="en-US" sz="1800" i="1">
                            <a:latin typeface="Cambria Math" panose="02040503050406030204" pitchFamily="18" charset="0"/>
                          </a:rPr>
                          <m:t>3</m:t>
                        </m:r>
                      </m:sub>
                    </m:sSub>
                  </m:oMath>
                </a14:m>
                <a:endParaRPr lang="en-IN" sz="1800" dirty="0"/>
              </a:p>
              <a:p>
                <a:r>
                  <a:rPr lang="en-IN" sz="1800" dirty="0"/>
                  <a:t>This method is capable of precise measurement of inductances a wide range of values from a few </a:t>
                </a:r>
                <a14:m>
                  <m:oMath xmlns:m="http://schemas.openxmlformats.org/officeDocument/2006/math">
                    <m:r>
                      <a:rPr lang="en-IN" sz="1800" i="1" smtClean="0">
                        <a:latin typeface="Cambria Math" panose="02040503050406030204" pitchFamily="18" charset="0"/>
                        <a:ea typeface="Cambria Math" panose="02040503050406030204" pitchFamily="18" charset="0"/>
                      </a:rPr>
                      <m:t>𝜇</m:t>
                    </m:r>
                    <m:r>
                      <a:rPr lang="en-US" sz="1800" b="0" i="1" smtClean="0">
                        <a:latin typeface="Cambria Math" panose="02040503050406030204" pitchFamily="18" charset="0"/>
                        <a:ea typeface="Cambria Math" panose="02040503050406030204" pitchFamily="18" charset="0"/>
                      </a:rPr>
                      <m:t>𝐻</m:t>
                    </m:r>
                    <m:r>
                      <a:rPr lang="en-US" sz="1800" b="0" i="1" smtClean="0">
                        <a:latin typeface="Cambria Math" panose="02040503050406030204" pitchFamily="18" charset="0"/>
                        <a:ea typeface="Cambria Math" panose="02040503050406030204" pitchFamily="18" charset="0"/>
                      </a:rPr>
                      <m:t> </m:t>
                    </m:r>
                  </m:oMath>
                </a14:m>
                <a:r>
                  <a:rPr lang="en-IN" sz="1800" dirty="0"/>
                  <a:t>to several Henries.</a:t>
                </a:r>
              </a:p>
              <a:p>
                <a:endParaRPr lang="en-IN" sz="1800" dirty="0"/>
              </a:p>
            </p:txBody>
          </p:sp>
        </mc:Choice>
        <mc:Fallback xmlns="">
          <p:sp>
            <p:nvSpPr>
              <p:cNvPr id="4" name="Title 1">
                <a:extLst>
                  <a:ext uri="{FF2B5EF4-FFF2-40B4-BE49-F238E27FC236}">
                    <a16:creationId xmlns:a16="http://schemas.microsoft.com/office/drawing/2014/main" id="{03FD19A2-9FDA-4F69-BD4C-C16EC352A131}"/>
                  </a:ext>
                </a:extLst>
              </p:cNvPr>
              <p:cNvSpPr>
                <a:spLocks noGrp="1" noRot="1" noChangeAspect="1" noMove="1" noResize="1" noEditPoints="1" noAdjustHandles="1" noChangeArrowheads="1" noChangeShapeType="1" noTextEdit="1"/>
              </p:cNvSpPr>
              <p:nvPr>
                <p:ph idx="1"/>
              </p:nvPr>
            </p:nvSpPr>
            <p:spPr>
              <a:xfrm>
                <a:off x="838200" y="392113"/>
                <a:ext cx="10515600" cy="6073775"/>
              </a:xfrm>
              <a:blipFill>
                <a:blip r:embed="rId2"/>
                <a:stretch>
                  <a:fillRect l="-406" t="-1404"/>
                </a:stretch>
              </a:blipFill>
            </p:spPr>
            <p:txBody>
              <a:bodyPr/>
              <a:lstStyle/>
              <a:p>
                <a:r>
                  <a:rPr lang="en-IN">
                    <a:noFill/>
                  </a:rPr>
                  <a:t> </a:t>
                </a:r>
              </a:p>
            </p:txBody>
          </p:sp>
        </mc:Fallback>
      </mc:AlternateContent>
    </p:spTree>
    <p:extLst>
      <p:ext uri="{BB962C8B-B14F-4D97-AF65-F5344CB8AC3E}">
        <p14:creationId xmlns:p14="http://schemas.microsoft.com/office/powerpoint/2010/main" val="27994109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C30831B-DBCD-484E-8865-CCA74CD15C65}"/>
              </a:ext>
            </a:extLst>
          </p:cNvPr>
          <p:cNvSpPr/>
          <p:nvPr/>
        </p:nvSpPr>
        <p:spPr>
          <a:xfrm>
            <a:off x="221942" y="177553"/>
            <a:ext cx="11816178" cy="5632311"/>
          </a:xfrm>
          <a:prstGeom prst="rect">
            <a:avLst/>
          </a:prstGeom>
        </p:spPr>
        <p:txBody>
          <a:bodyPr wrap="square">
            <a:spAutoFit/>
          </a:bodyPr>
          <a:lstStyle/>
          <a:p>
            <a:r>
              <a:rPr lang="en-US" b="1" u="sng" dirty="0">
                <a:solidFill>
                  <a:srgbClr val="222222"/>
                </a:solidFill>
                <a:effectLst>
                  <a:outerShdw blurRad="38100" dist="38100" dir="2700000" algn="tl">
                    <a:srgbClr val="000000">
                      <a:alpha val="43137"/>
                    </a:srgbClr>
                  </a:outerShdw>
                </a:effectLst>
                <a:latin typeface="Verdana" panose="020B0604030504040204" pitchFamily="34" charset="0"/>
              </a:rPr>
              <a:t>Advantages of Anderson Bridge:-</a:t>
            </a:r>
          </a:p>
          <a:p>
            <a:r>
              <a:rPr lang="en-US" dirty="0">
                <a:solidFill>
                  <a:srgbClr val="000000"/>
                </a:solidFill>
                <a:latin typeface="Verdana" panose="020B0604030504040204" pitchFamily="34" charset="0"/>
              </a:rPr>
              <a:t>The following are the advantages of the Anderson’s Bridge.</a:t>
            </a:r>
          </a:p>
          <a:p>
            <a:endParaRPr lang="en-US" dirty="0">
              <a:solidFill>
                <a:srgbClr val="000000"/>
              </a:solidFill>
              <a:latin typeface="Verdana" panose="020B0604030504040204" pitchFamily="34" charset="0"/>
            </a:endParaRPr>
          </a:p>
          <a:p>
            <a:pPr>
              <a:buFont typeface="+mj-lt"/>
              <a:buAutoNum type="arabicPeriod"/>
            </a:pPr>
            <a:r>
              <a:rPr lang="en-US" dirty="0">
                <a:solidFill>
                  <a:srgbClr val="000000"/>
                </a:solidFill>
                <a:latin typeface="Verdana" panose="020B0604030504040204" pitchFamily="34" charset="0"/>
              </a:rPr>
              <a:t>The balance point is easily obtained on the Anderson bridge as compared to Maxwell’s inductance capacitance bridge.</a:t>
            </a:r>
          </a:p>
          <a:p>
            <a:pPr>
              <a:buFont typeface="+mj-lt"/>
              <a:buAutoNum type="arabicPeriod"/>
            </a:pPr>
            <a:endParaRPr lang="en-US" dirty="0">
              <a:solidFill>
                <a:srgbClr val="000000"/>
              </a:solidFill>
              <a:latin typeface="Verdana" panose="020B0604030504040204" pitchFamily="34" charset="0"/>
            </a:endParaRPr>
          </a:p>
          <a:p>
            <a:pPr>
              <a:buFont typeface="+mj-lt"/>
              <a:buAutoNum type="arabicPeriod"/>
            </a:pPr>
            <a:r>
              <a:rPr lang="en-US" dirty="0">
                <a:solidFill>
                  <a:srgbClr val="000000"/>
                </a:solidFill>
                <a:latin typeface="Verdana" panose="020B0604030504040204" pitchFamily="34" charset="0"/>
              </a:rPr>
              <a:t> The bridge uses fixed capacitor because of which accurate reading is obtained.</a:t>
            </a:r>
          </a:p>
          <a:p>
            <a:pPr>
              <a:buFont typeface="+mj-lt"/>
              <a:buAutoNum type="arabicPeriod"/>
            </a:pPr>
            <a:endParaRPr lang="en-US" dirty="0">
              <a:solidFill>
                <a:srgbClr val="000000"/>
              </a:solidFill>
              <a:latin typeface="Verdana" panose="020B0604030504040204" pitchFamily="34" charset="0"/>
            </a:endParaRPr>
          </a:p>
          <a:p>
            <a:pPr>
              <a:buFont typeface="+mj-lt"/>
              <a:buAutoNum type="arabicPeriod"/>
            </a:pPr>
            <a:r>
              <a:rPr lang="en-US" dirty="0">
                <a:solidFill>
                  <a:srgbClr val="000000"/>
                </a:solidFill>
                <a:latin typeface="Verdana" panose="020B0604030504040204" pitchFamily="34" charset="0"/>
              </a:rPr>
              <a:t>The bridge measures the accurate capacitances in terms of inductances.</a:t>
            </a:r>
          </a:p>
          <a:p>
            <a:pPr>
              <a:buFont typeface="+mj-lt"/>
              <a:buAutoNum type="arabicPeriod"/>
            </a:pPr>
            <a:endParaRPr lang="en-US" dirty="0">
              <a:solidFill>
                <a:srgbClr val="000000"/>
              </a:solidFill>
              <a:latin typeface="Verdana" panose="020B0604030504040204" pitchFamily="34" charset="0"/>
            </a:endParaRPr>
          </a:p>
          <a:p>
            <a:r>
              <a:rPr lang="en-US" b="1" u="sng" dirty="0">
                <a:solidFill>
                  <a:srgbClr val="222222"/>
                </a:solidFill>
                <a:effectLst>
                  <a:outerShdw blurRad="38100" dist="38100" dir="2700000" algn="tl">
                    <a:srgbClr val="000000">
                      <a:alpha val="43137"/>
                    </a:srgbClr>
                  </a:outerShdw>
                </a:effectLst>
                <a:latin typeface="Verdana" panose="020B0604030504040204" pitchFamily="34" charset="0"/>
              </a:rPr>
              <a:t>Disadvantages of Anderson Bridge:-</a:t>
            </a:r>
          </a:p>
          <a:p>
            <a:r>
              <a:rPr lang="en-US" dirty="0">
                <a:solidFill>
                  <a:srgbClr val="000000"/>
                </a:solidFill>
                <a:latin typeface="Verdana" panose="020B0604030504040204" pitchFamily="34" charset="0"/>
              </a:rPr>
              <a:t>The main disadvantages of Anderson’s bridge are as follow.</a:t>
            </a:r>
          </a:p>
          <a:p>
            <a:endParaRPr lang="en-US" dirty="0">
              <a:solidFill>
                <a:srgbClr val="000000"/>
              </a:solidFill>
              <a:latin typeface="Verdana" panose="020B0604030504040204" pitchFamily="34" charset="0"/>
            </a:endParaRPr>
          </a:p>
          <a:p>
            <a:pPr>
              <a:buFont typeface="+mj-lt"/>
              <a:buAutoNum type="arabicPeriod"/>
            </a:pPr>
            <a:r>
              <a:rPr lang="en-US" dirty="0">
                <a:solidFill>
                  <a:srgbClr val="000000"/>
                </a:solidFill>
                <a:latin typeface="Verdana" panose="020B0604030504040204" pitchFamily="34" charset="0"/>
              </a:rPr>
              <a:t>The circuit has more arms which make it more complex as compared to Maxwell’s bridge. The equation of the bridge is also more complex.</a:t>
            </a:r>
          </a:p>
          <a:p>
            <a:pPr>
              <a:buFont typeface="+mj-lt"/>
              <a:buAutoNum type="arabicPeriod"/>
            </a:pPr>
            <a:endParaRPr lang="en-US" dirty="0">
              <a:solidFill>
                <a:srgbClr val="000000"/>
              </a:solidFill>
              <a:latin typeface="Verdana" panose="020B0604030504040204" pitchFamily="34" charset="0"/>
            </a:endParaRPr>
          </a:p>
          <a:p>
            <a:pPr>
              <a:buFont typeface="+mj-lt"/>
              <a:buAutoNum type="arabicPeriod"/>
            </a:pPr>
            <a:r>
              <a:rPr lang="en-US" dirty="0">
                <a:solidFill>
                  <a:srgbClr val="000000"/>
                </a:solidFill>
                <a:latin typeface="Verdana" panose="020B0604030504040204" pitchFamily="34" charset="0"/>
              </a:rPr>
              <a:t>The bridge has an additional junction which arises the difficulty in shielding the bridge.</a:t>
            </a:r>
          </a:p>
          <a:p>
            <a:pPr>
              <a:buFont typeface="+mj-lt"/>
              <a:buAutoNum type="arabicPeriod"/>
            </a:pPr>
            <a:endParaRPr lang="en-US" dirty="0">
              <a:solidFill>
                <a:srgbClr val="000000"/>
              </a:solidFill>
              <a:latin typeface="Verdana" panose="020B0604030504040204" pitchFamily="34" charset="0"/>
            </a:endParaRPr>
          </a:p>
          <a:p>
            <a:r>
              <a:rPr lang="en-US" dirty="0">
                <a:solidFill>
                  <a:srgbClr val="000000"/>
                </a:solidFill>
                <a:latin typeface="Verdana" panose="020B0604030504040204" pitchFamily="34" charset="0"/>
              </a:rPr>
              <a:t>Because of the above-mentioned disadvantages, Maxwell’s inductance capacitance bridge is used in the circuit.</a:t>
            </a:r>
            <a:endParaRPr lang="en-US" b="0" i="0" dirty="0">
              <a:solidFill>
                <a:srgbClr val="000000"/>
              </a:solidFill>
              <a:effectLst/>
              <a:latin typeface="Verdana" panose="020B0604030504040204" pitchFamily="34" charset="0"/>
            </a:endParaRPr>
          </a:p>
        </p:txBody>
      </p:sp>
    </p:spTree>
    <p:extLst>
      <p:ext uri="{BB962C8B-B14F-4D97-AF65-F5344CB8AC3E}">
        <p14:creationId xmlns:p14="http://schemas.microsoft.com/office/powerpoint/2010/main" val="38071654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586</TotalTime>
  <Words>1529</Words>
  <Application>Microsoft Office PowerPoint</Application>
  <PresentationFormat>Widescreen</PresentationFormat>
  <Paragraphs>303</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Cambria Math</vt:lpstr>
      <vt:lpstr>inherit</vt:lpstr>
      <vt:lpstr>MathJax_Main</vt:lpstr>
      <vt:lpstr>MathJax_Math-italic</vt:lpstr>
      <vt:lpstr>Verdana</vt:lpstr>
      <vt:lpstr>Office Theme</vt:lpstr>
      <vt:lpstr>UNIT-4</vt:lpstr>
      <vt:lpstr>Types of Bridges:-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WIEN’S BRIDGE:-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UNIT-4</dc:title>
  <dc:creator>varma.yuvaraj@gmail.com</dc:creator>
  <cp:lastModifiedBy>varma.yuvaraj@gmail.com</cp:lastModifiedBy>
  <cp:revision>55</cp:revision>
  <dcterms:created xsi:type="dcterms:W3CDTF">2020-09-30T05:02:47Z</dcterms:created>
  <dcterms:modified xsi:type="dcterms:W3CDTF">2020-10-13T04:41:07Z</dcterms:modified>
</cp:coreProperties>
</file>